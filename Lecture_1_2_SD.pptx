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4" r:id="rId8"/>
    <p:sldId id="265" r:id="rId9"/>
    <p:sldId id="266" r:id="rId10"/>
    <p:sldId id="267" r:id="rId11"/>
    <p:sldId id="268" r:id="rId12"/>
    <p:sldId id="273" r:id="rId13"/>
    <p:sldId id="274" r:id="rId14"/>
    <p:sldId id="275" r:id="rId15"/>
    <p:sldId id="276" r:id="rId16"/>
    <p:sldId id="27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594360"/>
            <a:ext cx="1280160" cy="1280160"/>
          </a:xfrm>
          <a:prstGeom prst="ellipse">
            <a:avLst/>
          </a:prstGeom>
          <a:solidFill>
            <a:srgbClr val="2073D2"/>
          </a:solidFill>
          <a:ln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61320" y="1417320"/>
            <a:ext cx="685800" cy="685800"/>
          </a:xfrm>
          <a:prstGeom prst="ellipse">
            <a:avLst/>
          </a:prstGeom>
          <a:solidFill>
            <a:srgbClr val="1EB7D2"/>
          </a:solidFill>
          <a:ln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1965960"/>
            <a:ext cx="438912" cy="438912"/>
          </a:xfrm>
          <a:prstGeom prst="ellipse">
            <a:avLst/>
          </a:prstGeom>
          <a:solidFill>
            <a:srgbClr val="7552C6"/>
          </a:solidFill>
          <a:ln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2560320"/>
            <a:ext cx="411480" cy="411480"/>
          </a:xfrm>
          <a:prstGeom prst="ellipse">
            <a:avLst/>
          </a:prstGeom>
          <a:solidFill>
            <a:srgbClr val="119184"/>
          </a:solidFill>
          <a:ln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749808"/>
            <a:ext cx="1920240" cy="283464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768096"/>
            <a:ext cx="184708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0F2648"/>
                </a:solidFill>
                <a:latin typeface="Aptos"/>
              </a:defRPr>
            </a:pPr>
            <a:r>
              <a:t>OPERATING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8595360" cy="1298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Basics &amp; Types of</a:t>
            </a:r>
            <a:br/>
            <a:r>
              <a:t>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944368"/>
            <a:ext cx="804672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0">
                <a:solidFill>
                  <a:srgbClr val="CFE0F4"/>
                </a:solidFill>
                <a:latin typeface="Aptos"/>
              </a:defRPr>
            </a:pPr>
            <a:r>
              <a:t>From firmware boot to kernel services,</a:t>
            </a:r>
            <a:br/>
            <a:r>
              <a:t>process isolation and modern OS architectures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1965960" cy="60350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864608"/>
            <a:ext cx="181965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Applications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6352" y="5010912"/>
            <a:ext cx="274320" cy="0"/>
          </a:xfrm>
          <a:prstGeom prst="line">
            <a:avLst/>
          </a:prstGeom>
          <a:ln w="25400">
            <a:solidFill>
              <a:srgbClr val="1E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79" y="4709160"/>
            <a:ext cx="1965960" cy="60350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4864608"/>
            <a:ext cx="181965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System Calls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48072" y="5010912"/>
            <a:ext cx="274320" cy="0"/>
          </a:xfrm>
          <a:prstGeom prst="line">
            <a:avLst/>
          </a:prstGeom>
          <a:ln w="25400">
            <a:solidFill>
              <a:srgbClr val="1E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4709160"/>
            <a:ext cx="1965960" cy="60350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9552" y="4864608"/>
            <a:ext cx="181965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Kernel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9792" y="5010912"/>
            <a:ext cx="274320" cy="0"/>
          </a:xfrm>
          <a:prstGeom prst="line">
            <a:avLst/>
          </a:prstGeom>
          <a:ln w="25400">
            <a:solidFill>
              <a:srgbClr val="1E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19" y="4709160"/>
            <a:ext cx="1965960" cy="60350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91271" y="4864608"/>
            <a:ext cx="181965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989320"/>
            <a:ext cx="8138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B0C6DF"/>
                </a:solidFill>
                <a:latin typeface="Aptos"/>
              </a:defRPr>
            </a:pPr>
            <a:r>
              <a:t>Lecture 1–2  •  Conceptual diagrams  •  Engineering graduate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Lecture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A guided path from the role of an OS to its boot process and architectural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664208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1" y="1572768"/>
            <a:ext cx="475488" cy="28346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8424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OS as resource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Definition, abstraction and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417320"/>
            <a:ext cx="3520440" cy="1664208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1572768"/>
            <a:ext cx="475488" cy="28346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159105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Boot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5915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UEFI, Secure Boot, initramfs and PID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417320"/>
            <a:ext cx="3520440" cy="1664208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22207" y="1572768"/>
            <a:ext cx="475488" cy="28346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3" y="159105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198424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OS responsibilities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235915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Core services and resource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520440" cy="1664208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1" y="3721608"/>
            <a:ext cx="475488" cy="28346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73989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13308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Privilege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50799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User space, kernel space and system calls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3566160"/>
            <a:ext cx="3520440" cy="1664208"/>
          </a:xfrm>
          <a:prstGeom prst="roundRect">
            <a:avLst/>
          </a:prstGeom>
          <a:solidFill>
            <a:srgbClr val="E5F7EB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63440" y="3721608"/>
            <a:ext cx="475488" cy="283464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373989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3308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Kernel architectures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0799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Monolithic vs. microkernel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5" y="3566160"/>
            <a:ext cx="3520440" cy="1664208"/>
          </a:xfrm>
          <a:prstGeom prst="roundRect">
            <a:avLst/>
          </a:prstGeom>
          <a:solidFill>
            <a:srgbClr val="FFE9ED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22207" y="3721608"/>
            <a:ext cx="475488" cy="283464"/>
          </a:xfrm>
          <a:prstGeom prst="roundRect">
            <a:avLst/>
          </a:prstGeom>
          <a:solidFill>
            <a:srgbClr val="CD4153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58783" y="3739896"/>
            <a:ext cx="402336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7" y="4133088"/>
            <a:ext cx="31546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Traditional → modern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7" y="4507992"/>
            <a:ext cx="3108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How OS designs adapt to cloud-native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What is an operating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The OS provides controlled abstractions between applications and physical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675120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1264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000" b="1">
                <a:solidFill>
                  <a:srgbClr val="0F2648"/>
                </a:solidFill>
                <a:latin typeface="Aptos"/>
              </a:defRPr>
            </a:pPr>
            <a:r>
              <a:t>An OS is a system-software layer that: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23160"/>
            <a:ext cx="5989320" cy="2194560"/>
          </a:xfrm>
          <a:prstGeom prst="rect">
            <a:avLst/>
          </a:prstGeom>
          <a:noFill/>
        </p:spPr>
        <p:txBody>
          <a:bodyPr wrap="square" lIns="45720" tIns="36576" rIns="36576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t>•  Manages hardware resources such as CPU, memory, storage and devices.</a:t>
            </a:r>
          </a:p>
          <a:p>
            <a:pPr>
              <a:spcAft>
                <a:spcPts val="12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t>•  Provides standard abstractions and services for applications.</a:t>
            </a:r>
          </a:p>
          <a:p>
            <a:pPr>
              <a:spcAft>
                <a:spcPts val="12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t>•  Enforces protection and isolation between processes.</a:t>
            </a:r>
          </a:p>
          <a:p>
            <a:pPr>
              <a:spcAft>
                <a:spcPts val="12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t>•  Coordinates access to shared resources while maintaining system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749039" cy="4251960"/>
          </a:xfrm>
          <a:prstGeom prst="roundRect">
            <a:avLst/>
          </a:prstGeom>
          <a:solidFill>
            <a:srgbClr val="0F2648"/>
          </a:solidFill>
          <a:ln w="13970">
            <a:solidFill>
              <a:srgbClr val="0F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Modern system-design lens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514600"/>
            <a:ext cx="3063240" cy="28346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1583" y="2532888"/>
            <a:ext cx="299008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RESOURCE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264408"/>
            <a:ext cx="3063240" cy="28346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1583" y="3282696"/>
            <a:ext cx="299008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ISOLATION PROVIDER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4014215"/>
            <a:ext cx="3063240" cy="28346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1583" y="4032503"/>
            <a:ext cx="299008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SERVICE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983480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D5E4F5"/>
                </a:solidFill>
                <a:latin typeface="Aptos"/>
              </a:defRPr>
            </a:pPr>
            <a:r>
              <a:t>Apps do not need to manage hardware directly.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Core functions of an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These functions work together to provide a stable and efficient execution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89888"/>
            <a:ext cx="3520440" cy="1664208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73152" cy="1664208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08760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Process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Create, schedule, synchronize and terminate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389888"/>
            <a:ext cx="3520440" cy="1664208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98848" y="1389888"/>
            <a:ext cx="73152" cy="1664208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508760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Memory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892808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Allocate RAM, maintain virtual memory and protect address spaces.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7615" y="1389888"/>
            <a:ext cx="3520440" cy="1664208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7615" y="1389888"/>
            <a:ext cx="73152" cy="1664208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0495" y="1508760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File-system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1892808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Organize files, directories, permissions and persistent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19856"/>
            <a:ext cx="3520440" cy="1664208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419856"/>
            <a:ext cx="73152" cy="1664208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538728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Device &amp; I/O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22776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Coordinate drivers, interrupts, buffering and device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419856"/>
            <a:ext cx="3520440" cy="1664208"/>
          </a:xfrm>
          <a:prstGeom prst="roundRect">
            <a:avLst/>
          </a:prstGeom>
          <a:solidFill>
            <a:srgbClr val="FFE9ED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98848" y="3419856"/>
            <a:ext cx="73152" cy="1664208"/>
          </a:xfrm>
          <a:prstGeom prst="roundRect">
            <a:avLst/>
          </a:prstGeom>
          <a:solidFill>
            <a:srgbClr val="CD4153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3538728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Security &amp;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22776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Authenticate users and enforce access controls and isolation.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7615" y="3419856"/>
            <a:ext cx="3520440" cy="1664208"/>
          </a:xfrm>
          <a:prstGeom prst="roundRect">
            <a:avLst/>
          </a:prstGeom>
          <a:solidFill>
            <a:srgbClr val="E5F7EB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57615" y="3419856"/>
            <a:ext cx="73152" cy="1664208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0495" y="3538728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5" y="3922776"/>
            <a:ext cx="3191256" cy="10881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50" b="0">
                <a:solidFill>
                  <a:srgbClr val="233146"/>
                </a:solidFill>
                <a:latin typeface="Aptos"/>
              </a:defRPr>
            </a:pPr>
            <a:r>
              <a:t>Provide sockets, protocol stacks and communication services.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CBC2-266B-0449-42F3-AA4BCD28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Booting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7C4F-6249-376B-CC6F-188E46F7A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The firmware layer bridges raw physical hardware with the execution of the operating system kernel.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13935-E7A4-B606-B9E5-398A5D52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657476"/>
            <a:ext cx="10629899" cy="37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3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Booting sequence: from power-on to user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Firmware prepares the platform; the bootloader loads the kernel; the kernel initializes user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BOOT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874519"/>
            <a:ext cx="1719072" cy="192024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2029968"/>
            <a:ext cx="438912" cy="28346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Power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CPU reset vector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2761488"/>
            <a:ext cx="164592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23160" y="1874519"/>
            <a:ext cx="1719072" cy="192024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51176" y="2029968"/>
            <a:ext cx="438912" cy="28346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87752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UEFI / Secure Boot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Platform checks &amp; trust chain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2761488"/>
            <a:ext cx="164592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70831" y="1874519"/>
            <a:ext cx="1719072" cy="192024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98847" y="2029968"/>
            <a:ext cx="438912" cy="28346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5423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3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Bootloader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Selects kernel + initramfs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08192" y="2761488"/>
            <a:ext cx="164591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18504" y="1874519"/>
            <a:ext cx="1719072" cy="1920240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6520" y="2029968"/>
            <a:ext cx="438912" cy="28346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3096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Kernel init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Memory, scheduler, drivers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55864" y="2761488"/>
            <a:ext cx="164592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66175" y="1874519"/>
            <a:ext cx="1719072" cy="1920240"/>
          </a:xfrm>
          <a:prstGeom prst="roundRect">
            <a:avLst/>
          </a:prstGeom>
          <a:solidFill>
            <a:srgbClr val="E5F7EB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94192" y="2029968"/>
            <a:ext cx="438912" cy="283464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7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Pivot root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3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Switch to real root filesystem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03536" y="2761488"/>
            <a:ext cx="164592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13847" y="1874519"/>
            <a:ext cx="1719072" cy="1920240"/>
          </a:xfrm>
          <a:prstGeom prst="roundRect">
            <a:avLst/>
          </a:prstGeom>
          <a:solidFill>
            <a:srgbClr val="FFE9ED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41863" y="2029968"/>
            <a:ext cx="438912" cy="283464"/>
          </a:xfrm>
          <a:prstGeom prst="roundRect">
            <a:avLst/>
          </a:prstGeom>
          <a:solidFill>
            <a:srgbClr val="CD4153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39" y="2048256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9" y="2542032"/>
            <a:ext cx="1481328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1">
                <a:solidFill>
                  <a:srgbClr val="0F2648"/>
                </a:solidFill>
                <a:latin typeface="Aptos"/>
              </a:defRPr>
            </a:pPr>
            <a:r>
              <a:t>PID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3575" y="2999232"/>
            <a:ext cx="1499616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systemd / init starts services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480560"/>
            <a:ext cx="10652760" cy="841248"/>
          </a:xfrm>
          <a:prstGeom prst="roundRect">
            <a:avLst/>
          </a:prstGeom>
          <a:solidFill>
            <a:srgbClr val="0F2648"/>
          </a:solidFill>
          <a:ln w="13970">
            <a:solidFill>
              <a:srgbClr val="0F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4709160"/>
            <a:ext cx="101498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Firmware → Bootloader → Linux kernel → Real root filesystem →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623560"/>
            <a:ext cx="104241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81"/>
                </a:solidFill>
                <a:latin typeface="Aptos"/>
              </a:defRPr>
            </a:pPr>
            <a:r>
              <a:t>The exact firmware stages and Secure Boot behavior depend on platform configuration.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Kernel initialization and pivot_root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Early userspace bridges the kernel to the production root filesystem.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BOOT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3474720" cy="155448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527048"/>
            <a:ext cx="512064" cy="28346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45336"/>
            <a:ext cx="43891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315468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0F2648"/>
                </a:solidFill>
                <a:latin typeface="Aptos"/>
              </a:defRPr>
            </a:pPr>
            <a:r>
              <a:t>Kernel initializes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3127248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33146"/>
                </a:solidFill>
                <a:latin typeface="Aptos"/>
              </a:defRPr>
            </a:pPr>
            <a:r>
              <a:t>Sets up core memory management, scheduling and hardware subsystems.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389888"/>
            <a:ext cx="3474720" cy="155448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45152" y="1527048"/>
            <a:ext cx="512064" cy="28346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45336"/>
            <a:ext cx="43891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929384"/>
            <a:ext cx="315468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0F2648"/>
                </a:solidFill>
                <a:latin typeface="Aptos"/>
              </a:defRPr>
            </a:pPr>
            <a:r>
              <a:t>Mount initramfs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86000"/>
            <a:ext cx="3127248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33146"/>
                </a:solidFill>
                <a:latin typeface="Aptos"/>
              </a:defRPr>
            </a:pPr>
            <a:r>
              <a:t>Creates a temporary root environment in 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389888"/>
            <a:ext cx="3474720" cy="155448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85632" y="1527048"/>
            <a:ext cx="512064" cy="28346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545336"/>
            <a:ext cx="43891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929384"/>
            <a:ext cx="315468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0F2648"/>
                </a:solidFill>
                <a:latin typeface="Aptos"/>
              </a:defRPr>
            </a:pPr>
            <a:r>
              <a:t>Early userspace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86000"/>
            <a:ext cx="3127248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33146"/>
                </a:solidFill>
                <a:latin typeface="Aptos"/>
              </a:defRPr>
            </a:pPr>
            <a:r>
              <a:t>Loads storage / network drivers and handles decryption where required.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83280"/>
            <a:ext cx="3474720" cy="1554480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3520440"/>
            <a:ext cx="512064" cy="28346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538728"/>
            <a:ext cx="43891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922776"/>
            <a:ext cx="315468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0F2648"/>
                </a:solidFill>
                <a:latin typeface="Aptos"/>
              </a:defRPr>
            </a:pPr>
            <a:r>
              <a:t>Real root becomes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79392"/>
            <a:ext cx="3127248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33146"/>
                </a:solidFill>
                <a:latin typeface="Aptos"/>
              </a:defRPr>
            </a:pPr>
            <a:r>
              <a:t>The production filesystem can now be mounted.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3383280"/>
            <a:ext cx="3474720" cy="1554480"/>
          </a:xfrm>
          <a:prstGeom prst="roundRect">
            <a:avLst/>
          </a:prstGeom>
          <a:solidFill>
            <a:srgbClr val="E5F7EB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45152" y="3520440"/>
            <a:ext cx="512064" cy="283464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81728" y="3538728"/>
            <a:ext cx="438912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922776"/>
            <a:ext cx="315468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0F2648"/>
                </a:solidFill>
                <a:latin typeface="Aptos"/>
              </a:defRPr>
            </a:pPr>
            <a:r>
              <a:t>pivot_root / switch root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279392"/>
            <a:ext cx="3127248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233146"/>
                </a:solidFill>
                <a:latin typeface="Aptos"/>
              </a:defRPr>
            </a:pPr>
            <a:r>
              <a:t>The system changes its root filesystem and transitions away from initramfs.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77840"/>
            <a:ext cx="10332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81"/>
                </a:solidFill>
                <a:latin typeface="Aptos"/>
              </a:defRPr>
            </a:pPr>
            <a:r>
              <a:t>The exact handoff command and cleanup behavior depend on the initramfs implementation.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User-space initialization: systemd and PID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After the real root is ready, the kernel starts the first user-space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BOOT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834640" cy="4206240"/>
          </a:xfrm>
          <a:prstGeom prst="roundRect">
            <a:avLst/>
          </a:prstGeom>
          <a:solidFill>
            <a:srgbClr val="0F2648"/>
          </a:solidFill>
          <a:ln w="13970">
            <a:solidFill>
              <a:srgbClr val="0F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2860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PID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1EB7D2"/>
                </a:solidFill>
                <a:latin typeface="Aptos"/>
              </a:defRPr>
            </a:pPr>
            <a:r>
              <a:t>init / systemd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37744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DCEAF9"/>
                </a:solidFill>
                <a:latin typeface="Aptos"/>
              </a:defRPr>
            </a:pPr>
            <a:r>
              <a:t>Ancestor of user processes</a:t>
            </a:r>
            <a:br/>
            <a:r>
              <a:t>Service manager</a:t>
            </a:r>
            <a:br/>
            <a:r>
              <a:t>System startup coordinator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3474720" cy="123444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77639" y="1417320"/>
            <a:ext cx="73152" cy="1234440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536192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Orphan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20240"/>
            <a:ext cx="314553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233146"/>
                </a:solidFill>
                <a:latin typeface="Aptos"/>
              </a:defRPr>
            </a:pPr>
            <a:r>
              <a:t>Adopts orphaned descendants when their parent exits.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17320"/>
            <a:ext cx="3474720" cy="123444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18120" y="1417320"/>
            <a:ext cx="73152" cy="1234440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536192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Zombie reaping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20240"/>
            <a:ext cx="314553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233146"/>
                </a:solidFill>
                <a:latin typeface="Aptos"/>
              </a:defRPr>
            </a:pPr>
            <a:r>
              <a:t>Collects child exit status through wait-family system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971800"/>
            <a:ext cx="3474720" cy="123444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977639" y="2971800"/>
            <a:ext cx="73152" cy="1234440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3090672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Service startup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474720"/>
            <a:ext cx="314553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233146"/>
                </a:solidFill>
                <a:latin typeface="Aptos"/>
              </a:defRPr>
            </a:pPr>
            <a:r>
              <a:t>Starts and supervises services according to dependencies.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971800"/>
            <a:ext cx="3474720" cy="1234440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18120" y="2971800"/>
            <a:ext cx="73152" cy="1234440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3090672"/>
            <a:ext cx="316382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Socket activation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74720"/>
            <a:ext cx="314553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233146"/>
                </a:solidFill>
                <a:latin typeface="Aptos"/>
              </a:defRPr>
            </a:pPr>
            <a:r>
              <a:t>Can start selected services when their sockets receive activity.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617720"/>
            <a:ext cx="7315200" cy="777240"/>
          </a:xfrm>
          <a:prstGeom prst="roundRect">
            <a:avLst/>
          </a:prstGeom>
          <a:solidFill>
            <a:srgbClr val="FFE9ED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0" y="4800600"/>
            <a:ext cx="6858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CD4153"/>
                </a:solidFill>
                <a:latin typeface="Aptos"/>
              </a:defRPr>
            </a:pPr>
            <a:r>
              <a:t>Precision note: PID 1 has special signal semantics; it is not simply immune to all signals.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User space vs. kernel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Privilege boundaries restrict what application code can do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49377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389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0F2648"/>
                </a:solidFill>
                <a:latin typeface="Aptos"/>
              </a:defRPr>
            </a:pPr>
            <a:r>
              <a:t>Privilege boundary (simplified)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48840"/>
            <a:ext cx="3931920" cy="114300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2395728"/>
            <a:ext cx="34747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0F2648"/>
                </a:solidFill>
                <a:latin typeface="Aptos"/>
              </a:defRPr>
            </a:pPr>
            <a:r>
              <a:t>USER SPACE  •  Ring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61488"/>
            <a:ext cx="3474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233146"/>
                </a:solidFill>
                <a:latin typeface="Aptos"/>
              </a:defRPr>
            </a:pPr>
            <a:r>
              <a:t>Apps • shells • user processes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319272"/>
            <a:ext cx="0" cy="384048"/>
          </a:xfrm>
          <a:prstGeom prst="line">
            <a:avLst/>
          </a:prstGeom>
          <a:ln w="25400">
            <a:solidFill>
              <a:srgbClr val="20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88720" y="3730752"/>
            <a:ext cx="3931920" cy="123444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977639"/>
            <a:ext cx="34747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0F2648"/>
                </a:solidFill>
                <a:latin typeface="Aptos"/>
              </a:defRPr>
            </a:pPr>
            <a:r>
              <a:t>KERNEL SPACE  •  Ring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70832"/>
            <a:ext cx="34747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233146"/>
                </a:solidFill>
                <a:latin typeface="Aptos"/>
              </a:defRPr>
            </a:pPr>
            <a:r>
              <a:t>Scheduler • memory • drivers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417320"/>
            <a:ext cx="5166360" cy="123444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73152" cy="1234440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536192"/>
            <a:ext cx="485546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Kernel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483717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Privileged code can manage hardware, page tables, scheduling and device drivers.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880360"/>
            <a:ext cx="5166360" cy="123444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80760" y="2880360"/>
            <a:ext cx="73152" cy="1234440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999232"/>
            <a:ext cx="485546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User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483717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Applications have restricted access and normally request services through system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343400"/>
            <a:ext cx="5166360" cy="123444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60" y="4343400"/>
            <a:ext cx="73152" cy="1234440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462272"/>
            <a:ext cx="485546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0F2648"/>
                </a:solidFill>
                <a:latin typeface="Aptos"/>
              </a:defRPr>
            </a:pPr>
            <a:r>
              <a:t>Why the boundary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846320"/>
            <a:ext cx="4837176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33146"/>
                </a:solidFill>
                <a:latin typeface="Aptos"/>
              </a:defRPr>
            </a:pPr>
            <a:r>
              <a:t>A fault in an ordinary application is more containable than a fault in privileged kernel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6070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5C6C81"/>
                </a:solidFill>
                <a:latin typeface="Aptos"/>
              </a:defRPr>
            </a:pPr>
            <a:r>
              <a:t>Ring terminology is CPU-architecture dependent; Ring 0 / Ring 3 is a common x86 simplification.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System calls: the controlled entry into the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Example: an application requests a file read or sends data through a socket.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SYSCALLS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029968" cy="160020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92807"/>
            <a:ext cx="438912" cy="28346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911095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0F2648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175564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Application calls read() / write()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1176" y="2542032"/>
            <a:ext cx="237744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43784" y="1737360"/>
            <a:ext cx="2029968" cy="160020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80944" y="1892807"/>
            <a:ext cx="438912" cy="28346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911095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331720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0F2648"/>
                </a:solidFill>
                <a:latin typeface="Aptos"/>
              </a:defRPr>
            </a:pPr>
            <a:r>
              <a:t>Trap instruction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715768"/>
            <a:ext cx="175564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CPU enters the syscall handler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2542032"/>
            <a:ext cx="237744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84648" y="1737360"/>
            <a:ext cx="2029968" cy="160020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21808" y="1892807"/>
            <a:ext cx="438912" cy="28346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4" y="1911095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2331720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0F2648"/>
                </a:solidFill>
                <a:latin typeface="Aptos"/>
              </a:defRPr>
            </a:pPr>
            <a:r>
              <a:t>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715768"/>
            <a:ext cx="175564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Kernel identifies the syscall number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32904" y="2542032"/>
            <a:ext cx="237744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25512" y="1737360"/>
            <a:ext cx="2029968" cy="1600200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62672" y="1892807"/>
            <a:ext cx="438912" cy="28346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9248" y="1911095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331720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0F2648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715768"/>
            <a:ext cx="175564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Kernel validates arguments and performs 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73768" y="2542032"/>
            <a:ext cx="237744" cy="0"/>
          </a:xfrm>
          <a:prstGeom prst="line">
            <a:avLst/>
          </a:prstGeom>
          <a:ln w="19050">
            <a:solidFill>
              <a:srgbClr val="5C6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66376" y="1737360"/>
            <a:ext cx="2029968" cy="1600200"/>
          </a:xfrm>
          <a:prstGeom prst="roundRect">
            <a:avLst/>
          </a:prstGeom>
          <a:solidFill>
            <a:srgbClr val="E5F7EB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03536" y="1892807"/>
            <a:ext cx="438912" cy="283464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40112" y="1911095"/>
            <a:ext cx="365759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331720"/>
            <a:ext cx="17556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0F2648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2715768"/>
            <a:ext cx="1755648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233146"/>
                </a:solidFill>
                <a:latin typeface="Aptos"/>
              </a:defRPr>
            </a:pPr>
            <a:r>
              <a:t>Result / error is returned to user 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77639"/>
            <a:ext cx="5120640" cy="1188720"/>
          </a:xfrm>
          <a:prstGeom prst="roundRect">
            <a:avLst/>
          </a:prstGeom>
          <a:solidFill>
            <a:srgbClr val="0F2648"/>
          </a:solidFill>
          <a:ln w="13970">
            <a:solidFill>
              <a:srgbClr val="0F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187952"/>
            <a:ext cx="4663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Privilege transition ≠ always a process switch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590288"/>
            <a:ext cx="4663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D8E7F8"/>
                </a:solidFill>
                <a:latin typeface="Aptos"/>
              </a:defRPr>
            </a:pPr>
            <a:r>
              <a:t>A syscall changes execution privilege; scheduling may or may not switch processes.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977639"/>
            <a:ext cx="5166360" cy="118872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187952"/>
            <a:ext cx="4709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0F2648"/>
                </a:solidFill>
                <a:latin typeface="Aptos"/>
              </a:defRPr>
            </a:pPr>
            <a:r>
              <a:t>Registers &amp; execution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590288"/>
            <a:ext cx="4709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233146"/>
                </a:solidFill>
                <a:latin typeface="Aptos"/>
              </a:defRPr>
            </a:pPr>
            <a:r>
              <a:t>Architecture-specific entry code saves the state needed to resume user execution.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Kernel architecture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Where operating-system services run affects performance, isolation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303520" cy="4480560"/>
          </a:xfrm>
          <a:prstGeom prst="roundRect">
            <a:avLst/>
          </a:prstGeom>
          <a:solidFill>
            <a:srgbClr val="E2F1FF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7091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F2648"/>
                </a:solidFill>
                <a:latin typeface="Aptos"/>
              </a:defRPr>
            </a:pPr>
            <a:r>
              <a:t>Monolithic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526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33146"/>
                </a:solidFill>
                <a:latin typeface="Aptos"/>
              </a:defRPr>
            </a:pPr>
            <a:r>
              <a:t>Most core services run in kernel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88920"/>
            <a:ext cx="2057400" cy="502920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07791"/>
            <a:ext cx="196596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2788920"/>
            <a:ext cx="2057400" cy="502920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59" y="2907791"/>
            <a:ext cx="196596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474720"/>
            <a:ext cx="2057400" cy="502920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93591"/>
            <a:ext cx="196596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3474720"/>
            <a:ext cx="2057400" cy="502920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59" y="3593591"/>
            <a:ext cx="1965960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5720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0F2648"/>
                </a:solidFill>
                <a:latin typeface="Aptos"/>
              </a:defRPr>
            </a:pPr>
            <a:r>
              <a:t>Strength: fast in-kernel communication.</a:t>
            </a:r>
            <a:br/>
            <a:r>
              <a:t>Trade-off: a faulty driver can compromise the kernel.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627632"/>
            <a:ext cx="47091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F2648"/>
                </a:solidFill>
                <a:latin typeface="Aptos"/>
              </a:defRPr>
            </a:pPr>
            <a:r>
              <a:t>Microkernel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526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300" b="0">
                <a:solidFill>
                  <a:srgbClr val="233146"/>
                </a:solidFill>
                <a:latin typeface="Aptos"/>
              </a:defRPr>
            </a:pPr>
            <a:r>
              <a:t>Only minimal mechanisms remain in kernel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788920"/>
            <a:ext cx="1691640" cy="1051560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2990088"/>
            <a:ext cx="1444752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IPC</a:t>
            </a:r>
            <a:br/>
            <a:r>
              <a:t>Scheduler</a:t>
            </a:r>
            <a:br/>
            <a:r>
              <a:t>Basic memory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6760" y="3310128"/>
            <a:ext cx="411480" cy="0"/>
          </a:xfrm>
          <a:prstGeom prst="line">
            <a:avLst/>
          </a:prstGeom>
          <a:ln w="25400">
            <a:solidFill>
              <a:srgbClr val="20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69680" y="2852928"/>
            <a:ext cx="685800" cy="914400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7111" y="3127248"/>
            <a:ext cx="63093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Drivers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2852928"/>
            <a:ext cx="685800" cy="914400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19" y="3127248"/>
            <a:ext cx="63093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File systems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9296" y="2852928"/>
            <a:ext cx="685800" cy="914400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96728" y="3127248"/>
            <a:ext cx="63093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Protocols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43400"/>
            <a:ext cx="45720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0F2648"/>
                </a:solidFill>
                <a:latin typeface="Aptos"/>
              </a:defRPr>
            </a:pPr>
            <a:r>
              <a:t>Strength: stronger fault isolation.</a:t>
            </a:r>
            <a:br/>
            <a:r>
              <a:t>Trade-off: IPC can add communication overhead.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5156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50" b="0">
                <a:solidFill>
                  <a:srgbClr val="5C6C81"/>
                </a:solidFill>
                <a:latin typeface="Aptos"/>
              </a:defRPr>
            </a:pPr>
            <a:r>
              <a:t>Examples in the source material: Linux / FreeBSD (monolithic family); seL4 / QNX / Zircon (microkernel family).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FF5D-A635-62D1-BF19-7B76F56D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OS (Traditional Vs Modern Adaptation)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0E9E15-BC29-C881-32E9-1BCF7DA7B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34891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08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A390-A1E7-F29E-B53B-FEC8D872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OS (Traditional Vs Modern Adaptation)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9F651-F043-9503-78BB-A3444987C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25" y="1690688"/>
            <a:ext cx="10353675" cy="468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1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151E-DFD2-4D22-4BE2-AA1AD903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33D6-913E-9B7C-5F75-4D611E12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OS (Traditional Vs Modern Adaptation)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B35ABF-2770-0AF5-3067-286C1CAEB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850" y="1885950"/>
            <a:ext cx="102679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8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E9B5-C20C-70C9-A17B-D924A0AA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1874-327F-B27C-EF3B-CA0F1280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OS (Traditional Vs Modern Adaptation)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F6BB46-9BB9-C039-5AE7-55BB9246B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63" y="1690688"/>
            <a:ext cx="96583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EA82E-6795-5EC5-424B-99370196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53AF-948F-8B60-7E00-BBE1A258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Types of OS (Traditional Vs Modern Adaptation)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CB0164-E1D7-B2C4-1E8F-6411DCB2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9"/>
            <a:ext cx="10634663" cy="480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8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3192" y="292608"/>
            <a:ext cx="100584" cy="566928"/>
          </a:xfrm>
          <a:prstGeom prst="roundRect">
            <a:avLst/>
          </a:prstGeom>
          <a:solidFill>
            <a:srgbClr val="1EB7D2"/>
          </a:solidFill>
          <a:ln w="13970">
            <a:solidFill>
              <a:srgbClr val="1E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6070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0F2648"/>
                </a:solidFill>
                <a:latin typeface="Aptos"/>
              </a:defRPr>
            </a:pPr>
            <a:r>
              <a:t>Types of OS: traditional foundations to modern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698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50" b="0">
                <a:solidFill>
                  <a:srgbClr val="5C6C81"/>
                </a:solidFill>
                <a:latin typeface="Aptos"/>
              </a:defRPr>
            </a:pPr>
            <a:r>
              <a:t>The OS role stays familiar, but deployment constraints and operational models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310896"/>
            <a:ext cx="12801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850" b="1">
                <a:solidFill>
                  <a:srgbClr val="2073D2"/>
                </a:solidFill>
                <a:latin typeface="Aptos"/>
              </a:defRPr>
            </a:pPr>
            <a:r>
              <a:t>OS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3566160"/>
          </a:xfrm>
          <a:prstGeom prst="roundRect">
            <a:avLst/>
          </a:prstGeom>
          <a:solidFill>
            <a:srgbClr val="FFF3E1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73152" cy="3566160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Traditional general-purpose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3191256" cy="2990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33146"/>
                </a:solidFill>
                <a:latin typeface="Aptos"/>
              </a:defRPr>
            </a:pPr>
            <a:r>
              <a:t>• Broad device and application support</a:t>
            </a:r>
            <a:br/>
            <a:r>
              <a:t>• Interactive administration and package tools</a:t>
            </a:r>
            <a:br/>
            <a:r>
              <a:t>• Flexible for desktops and servers</a:t>
            </a:r>
            <a:br/>
            <a:r>
              <a:t>• General-purpose service footprint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E0F7F3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73152" cy="3566160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36192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Container-optimized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91256" cy="2990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33146"/>
                </a:solidFill>
                <a:latin typeface="Aptos"/>
              </a:defRPr>
            </a:pPr>
            <a:r>
              <a:t>• Minimal, purpose-built host environment</a:t>
            </a:r>
            <a:br/>
            <a:r>
              <a:t>• Often immutable or read-only root design</a:t>
            </a:r>
            <a:br/>
            <a:r>
              <a:t>• Managed declaratively for cluster nodes</a:t>
            </a:r>
            <a:br/>
            <a:r>
              <a:t>• Examples: Fedora CoreOS, Talos Linux, Bottlerocket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3566160"/>
          </a:xfrm>
          <a:prstGeom prst="roundRect">
            <a:avLst/>
          </a:prstGeom>
          <a:solidFill>
            <a:srgbClr val="EFEAFF"/>
          </a:solidFill>
          <a:ln w="1397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73152" cy="3566160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536192"/>
            <a:ext cx="3209544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0F2648"/>
                </a:solidFill>
                <a:latin typeface="Aptos"/>
              </a:defRPr>
            </a:pPr>
            <a:r>
              <a:t>MicroVM / serverless 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191256" cy="2990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33146"/>
                </a:solidFill>
                <a:latin typeface="Aptos"/>
              </a:defRPr>
            </a:pPr>
            <a:r>
              <a:t>• Lightweight virtual-machine boundary</a:t>
            </a:r>
            <a:br/>
            <a:r>
              <a:t>• Hypervisor-based tenant separation</a:t>
            </a:r>
            <a:br/>
            <a:r>
              <a:t>• Designed for fast provisioning and density</a:t>
            </a:r>
            <a:br/>
            <a:r>
              <a:t>• Example: Firecracker-backed serverless 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49240"/>
            <a:ext cx="10469880" cy="658368"/>
          </a:xfrm>
          <a:prstGeom prst="roundRect">
            <a:avLst/>
          </a:prstGeom>
          <a:solidFill>
            <a:srgbClr val="0F2648"/>
          </a:solidFill>
          <a:ln w="13970">
            <a:solidFill>
              <a:srgbClr val="0F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522976"/>
            <a:ext cx="100126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Modern adaptation: immutable hosts + containers + stronger isolation where the threat model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C6C81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C6C81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98448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" y="1399032"/>
            <a:ext cx="100584" cy="329184"/>
          </a:xfrm>
          <a:prstGeom prst="roundRect">
            <a:avLst/>
          </a:prstGeom>
          <a:solidFill>
            <a:srgbClr val="2073D2"/>
          </a:solidFill>
          <a:ln w="13970">
            <a:solidFill>
              <a:srgbClr val="20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1408176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OS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408176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Manage resources, abstract hardware and isolate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02536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103120"/>
            <a:ext cx="100584" cy="329184"/>
          </a:xfrm>
          <a:prstGeom prst="roundRect">
            <a:avLst/>
          </a:prstGeom>
          <a:solidFill>
            <a:srgbClr val="119184"/>
          </a:solidFill>
          <a:ln w="13970">
            <a:solidFill>
              <a:srgbClr val="11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112264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Boot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12264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Firmware → bootloader → kernel → root filesystem → PID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06624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" y="2807208"/>
            <a:ext cx="100584" cy="329184"/>
          </a:xfrm>
          <a:prstGeom prst="roundRect">
            <a:avLst/>
          </a:prstGeom>
          <a:solidFill>
            <a:srgbClr val="7552C6"/>
          </a:solidFill>
          <a:ln w="13970">
            <a:solidFill>
              <a:srgbClr val="755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2816352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initramfs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16352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Enables early userspace to prepare storage before mounting the real root.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10712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" y="3511296"/>
            <a:ext cx="100584" cy="329184"/>
          </a:xfrm>
          <a:prstGeom prst="roundRect">
            <a:avLst/>
          </a:prstGeom>
          <a:solidFill>
            <a:srgbClr val="E78B28"/>
          </a:solidFill>
          <a:ln w="13970">
            <a:solidFill>
              <a:srgbClr val="E7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520440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Privilege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20440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System calls provide controlled access to privileged kernel services.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14800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4215384"/>
            <a:ext cx="100584" cy="329184"/>
          </a:xfrm>
          <a:prstGeom prst="roundRect">
            <a:avLst/>
          </a:prstGeom>
          <a:solidFill>
            <a:srgbClr val="369D62"/>
          </a:solidFill>
          <a:ln w="13970">
            <a:solidFill>
              <a:srgbClr val="369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1872" y="4224528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Architecture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224528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Kernel structure trades communication speed against fault isolation.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18888"/>
            <a:ext cx="10515600" cy="539496"/>
          </a:xfrm>
          <a:prstGeom prst="roundRect">
            <a:avLst/>
          </a:prstGeom>
          <a:solidFill>
            <a:srgbClr val="19365B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" y="4919472"/>
            <a:ext cx="100584" cy="329184"/>
          </a:xfrm>
          <a:prstGeom prst="roundRect">
            <a:avLst/>
          </a:prstGeom>
          <a:solidFill>
            <a:srgbClr val="CD4153"/>
          </a:solidFill>
          <a:ln w="13970">
            <a:solidFill>
              <a:srgbClr val="CD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4928616"/>
            <a:ext cx="20574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Modern deployments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928616"/>
            <a:ext cx="754380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D5E4F6"/>
                </a:solidFill>
                <a:latin typeface="Aptos"/>
              </a:defRPr>
            </a:pPr>
            <a:r>
              <a:t>Minimal host OS designs and microVMs address cloud operational and isolation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10378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600" b="1">
                <a:solidFill>
                  <a:srgbClr val="1EB7D2"/>
                </a:solidFill>
                <a:latin typeface="Aptos"/>
              </a:defRPr>
            </a:pPr>
            <a:r>
              <a:t>Think like a system designer: understand the boundary, the resource, and the failure mode.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56248"/>
            <a:ext cx="89611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A0B8D3"/>
                </a:solidFill>
                <a:latin typeface="Aptos"/>
              </a:defRPr>
            </a:pPr>
            <a:r>
              <a:t>BASICS &amp; TYPES OF OPERATING SYSTEM  •  LECTURE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A0B8D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1318</Words>
  <Application>Microsoft Office PowerPoint</Application>
  <PresentationFormat>Widescreen</PresentationFormat>
  <Paragraphs>222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Booting Sequence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OS (Traditional Vs Modern Adaptation)</vt:lpstr>
      <vt:lpstr>Types of OS (Traditional Vs Modern Adaptation)</vt:lpstr>
      <vt:lpstr>Types of OS (Traditional Vs Modern Adaptation)</vt:lpstr>
      <vt:lpstr>Types of OS (Traditional Vs Modern Adaptation)</vt:lpstr>
      <vt:lpstr>Types of OS (Traditional Vs Modern Adaptation)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Sandeep Rana</cp:lastModifiedBy>
  <cp:revision>2</cp:revision>
  <dcterms:created xsi:type="dcterms:W3CDTF">2013-01-27T09:14:16Z</dcterms:created>
  <dcterms:modified xsi:type="dcterms:W3CDTF">2026-10-10T07:54:55Z</dcterms:modified>
  <cp:category/>
</cp:coreProperties>
</file>