
<file path=[Content_Types].xml><?xml version="1.0" encoding="utf-8"?>
<Types xmlns="http://schemas.openxmlformats.org/package/2006/content-types">
  <Default Extension="jpeg" ContentType="image/jpeg"/>
  <Default Extension="JPG" ContentType="image/.jpg"/>
  <Default Extension="png" ContentType="image/png"/>
  <Default Extension="wmf" ContentType="image/x-wm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media/image20.svg" ContentType="image/svg+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94" r:id="rId19"/>
    <p:sldId id="295" r:id="rId20"/>
    <p:sldId id="296" r:id="rId21"/>
    <p:sldId id="297" r:id="rId22"/>
    <p:sldId id="298" r:id="rId23"/>
    <p:sldId id="272" r:id="rId24"/>
    <p:sldId id="273" r:id="rId25"/>
    <p:sldId id="274" r:id="rId26"/>
    <p:sldId id="299" r:id="rId27"/>
    <p:sldId id="275" r:id="rId28"/>
    <p:sldId id="276" r:id="rId29"/>
    <p:sldId id="277" r:id="rId30"/>
    <p:sldId id="278" r:id="rId31"/>
    <p:sldId id="300" r:id="rId32"/>
    <p:sldId id="279" r:id="rId33"/>
    <p:sldId id="301" r:id="rId34"/>
    <p:sldId id="280" r:id="rId35"/>
    <p:sldId id="302" r:id="rId36"/>
    <p:sldId id="281" r:id="rId37"/>
    <p:sldId id="282" r:id="rId38"/>
    <p:sldId id="283" r:id="rId39"/>
    <p:sldId id="284" r:id="rId40"/>
    <p:sldId id="285" r:id="rId41"/>
    <p:sldId id="286" r:id="rId42"/>
    <p:sldId id="288" r:id="rId43"/>
    <p:sldId id="304" r:id="rId44"/>
    <p:sldId id="303" r:id="rId45"/>
    <p:sldId id="289" r:id="rId46"/>
    <p:sldId id="290" r:id="rId47"/>
    <p:sldId id="291" r:id="rId48"/>
    <p:sldId id="292" r:id="rId49"/>
    <p:sldId id="293" r:id="rId50"/>
  </p:sldIdLst>
  <p:sldSz cx="12192000" cy="6858000"/>
  <p:notesSz cx="6858000" cy="9144000"/>
  <p:embeddedFontLst>
    <p:embeddedFont>
      <p:font typeface="Rockwell" panose="02060503020205020403" charset="0"/>
      <p:regular r:id="rId54"/>
    </p:embeddedFont>
    <p:embeddedFont>
      <p:font typeface="Rockwell Bold" panose="02060503020205020403" charset="0"/>
      <p:regular r:id="rId5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88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5" Type="http://schemas.openxmlformats.org/officeDocument/2006/relationships/font" Target="fonts/font2.fntdata"/><Relationship Id="rId54" Type="http://schemas.openxmlformats.org/officeDocument/2006/relationships/font" Target="fonts/font1.fntdata"/><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3.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5" Type="http://schemas.microsoft.com/office/2007/relationships/hdphoto" Target="../media/image4.wdp"/><Relationship Id="rId4" Type="http://schemas.openxmlformats.org/officeDocument/2006/relationships/image" Target="../media/image5.png"/><Relationship Id="rId3" Type="http://schemas.microsoft.com/office/2007/relationships/hdphoto" Target="../media/image2.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A3ACC2C-40B5-4BB1-80AA-C5B68FFFE6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EBF3EB6F-F222-4372-82AF-83C761B86984}"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3ACC2C-40B5-4BB1-80AA-C5B68FFFE6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a:xfrm>
            <a:off x="8593667" y="6272784"/>
            <a:ext cx="2644309" cy="365125"/>
          </a:xfrm>
        </p:spPr>
        <p:txBody>
          <a:bodyPr/>
          <a:lstStyle/>
          <a:p>
            <a:fld id="{BA3ACC2C-40B5-4BB1-80AA-C5B68FFFE676}" type="datetimeFigureOut">
              <a:rPr lang="en-IN" smtClean="0"/>
            </a:fld>
            <a:endParaRPr lang="en-IN"/>
          </a:p>
        </p:txBody>
      </p:sp>
      <p:sp>
        <p:nvSpPr>
          <p:cNvPr id="5" name="Footer Placeholder 4"/>
          <p:cNvSpPr>
            <a:spLocks noGrp="1"/>
          </p:cNvSpPr>
          <p:nvPr>
            <p:ph type="ftr" sz="quarter" idx="11"/>
          </p:nvPr>
        </p:nvSpPr>
        <p:spPr>
          <a:xfrm>
            <a:off x="2182708" y="6272784"/>
            <a:ext cx="6327648" cy="365125"/>
          </a:xfrm>
        </p:spPr>
        <p:txBody>
          <a:body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EBF3EB6F-F222-4372-82AF-83C761B86984}"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BA3ACC2C-40B5-4BB1-80AA-C5B68FFFE67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A3ACC2C-40B5-4BB1-80AA-C5B68FFFE676}"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A3ACC2C-40B5-4BB1-80AA-C5B68FFFE676}"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A3ACC2C-40B5-4BB1-80AA-C5B68FFFE676}"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A3ACC2C-40B5-4BB1-80AA-C5B68FFFE676}"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BA3ACC2C-40B5-4BB1-80AA-C5B68FFFE676}" type="datetimeFigureOut">
              <a:rPr lang="en-IN" smtClean="0"/>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3ACC2C-40B5-4BB1-80AA-C5B68FFFE6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A3ACC2C-40B5-4BB1-80AA-C5B68FFFE676}"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F3EB6F-F222-4372-82AF-83C761B86984}"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microsoft.com/office/2007/relationships/hdphoto" Target="../media/image4.wdp"/><Relationship Id="rId12" Type="http://schemas.openxmlformats.org/officeDocument/2006/relationships/image" Target="../media/image5.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BA3ACC2C-40B5-4BB1-80AA-C5B68FFFE676}" type="datetimeFigureOut">
              <a:rPr lang="en-IN" smtClean="0"/>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2">
                <a:duotone>
                  <a:schemeClr val="accent1">
                    <a:shade val="45000"/>
                    <a:satMod val="135000"/>
                  </a:schemeClr>
                  <a:prstClr val="white"/>
                </a:duotone>
                <a:extLst>
                  <a:ext uri="{BEBA8EAE-BF5A-486C-A8C5-ECC9F3942E4B}">
                    <a14:imgProps xmlns:a14="http://schemas.microsoft.com/office/drawing/2010/main">
                      <a14:imgLayer r:embed="rId13">
                        <a14:imgEffect>
                          <a14:brightnessContrast bright="-40000" contrast="20000"/>
                        </a14:imgEffect>
                        <a14:imgEffect>
                          <a14:saturation sat="95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EBF3EB6F-F222-4372-82AF-83C761B86984}"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5400" kern="1200" cap="all" baseline="0">
          <a:blipFill>
            <a:blip r:embed="rId14">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geeksforgeeks.org/worst-fit-allocation-in-operating-systems/"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wmf"/></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png"/><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image" Target="../media/image18.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Memory Management</a:t>
            </a:r>
            <a:endParaRPr lang="en-IN" dirty="0"/>
          </a:p>
        </p:txBody>
      </p:sp>
      <p:sp>
        <p:nvSpPr>
          <p:cNvPr id="3" name="Subtitle 2"/>
          <p:cNvSpPr>
            <a:spLocks noGrp="1"/>
          </p:cNvSpPr>
          <p:nvPr>
            <p:ph type="subTitle" idx="1"/>
          </p:nvPr>
        </p:nvSpPr>
        <p:spPr/>
        <p:txBody>
          <a:bodyPr/>
          <a:lstStyle/>
          <a:p>
            <a:r>
              <a:rPr lang="en-IN" dirty="0"/>
              <a:t>SYSTEM DESIGN OS PART 3</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729806"/>
          </a:xfrm>
        </p:spPr>
        <p:txBody>
          <a:bodyPr>
            <a:normAutofit fontScale="90000"/>
          </a:bodyPr>
          <a:lstStyle/>
          <a:p>
            <a:r>
              <a:rPr lang="en-IN" dirty="0"/>
              <a:t>MemORY MANAGEMENT</a:t>
            </a:r>
            <a:endParaRPr lang="en-IN" dirty="0"/>
          </a:p>
        </p:txBody>
      </p:sp>
      <p:sp>
        <p:nvSpPr>
          <p:cNvPr id="3" name="Content Placeholder 2"/>
          <p:cNvSpPr>
            <a:spLocks noGrp="1"/>
          </p:cNvSpPr>
          <p:nvPr>
            <p:ph idx="1"/>
          </p:nvPr>
        </p:nvSpPr>
        <p:spPr>
          <a:xfrm>
            <a:off x="1069848" y="1214438"/>
            <a:ext cx="10058400" cy="4957762"/>
          </a:xfrm>
        </p:spPr>
        <p:txBody>
          <a:bodyPr/>
          <a:lstStyle/>
          <a:p>
            <a:pPr marL="0" indent="0">
              <a:buNone/>
            </a:pPr>
            <a:r>
              <a:rPr lang="en-IN" sz="2400" dirty="0"/>
              <a:t>Main Memory</a:t>
            </a:r>
            <a:endParaRPr lang="en-IN" sz="2400" dirty="0"/>
          </a:p>
          <a:p>
            <a:endParaRPr lang="en-IN" dirty="0"/>
          </a:p>
          <a:p>
            <a:pPr marL="0" indent="0" algn="just">
              <a:buNone/>
            </a:pPr>
            <a:r>
              <a:rPr lang="en-US" sz="2800" dirty="0">
                <a:latin typeface="Calibri" panose="020F0502020204030204" pitchFamily="34" charset="0"/>
                <a:ea typeface="Calibri" panose="020F0502020204030204" pitchFamily="34" charset="0"/>
                <a:cs typeface="Calibri" panose="020F0502020204030204" pitchFamily="34" charset="0"/>
              </a:rPr>
              <a:t>Main memory is the place where programs and information are kept when the processor is effectively utilizing them.  Main memory is associated with the processor, so moving instructions and information into and out of the processor is extremely fast.  Main memory is also known as RAM (Random Access Memory). This memory is volatile. RAM loses its data when a power interruption occurs.</a:t>
            </a:r>
            <a:endParaRPr lang="en-IN"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729806"/>
          </a:xfrm>
        </p:spPr>
        <p:txBody>
          <a:bodyPr>
            <a:normAutofit fontScale="90000"/>
          </a:bodyPr>
          <a:lstStyle/>
          <a:p>
            <a:r>
              <a:rPr lang="en-IN" dirty="0"/>
              <a:t>MemORY MANAGEMENT</a:t>
            </a:r>
            <a:endParaRPr lang="en-IN" dirty="0"/>
          </a:p>
        </p:txBody>
      </p:sp>
      <p:sp>
        <p:nvSpPr>
          <p:cNvPr id="3" name="Content Placeholder 2"/>
          <p:cNvSpPr>
            <a:spLocks noGrp="1"/>
          </p:cNvSpPr>
          <p:nvPr>
            <p:ph idx="1"/>
          </p:nvPr>
        </p:nvSpPr>
        <p:spPr>
          <a:xfrm>
            <a:off x="1069848" y="1214438"/>
            <a:ext cx="10058400" cy="4957762"/>
          </a:xfrm>
        </p:spPr>
        <p:txBody>
          <a:bodyPr/>
          <a:lstStyle/>
          <a:p>
            <a:pPr marL="0" indent="0">
              <a:buNone/>
            </a:pPr>
            <a:r>
              <a:rPr lang="en-IN" sz="2400" dirty="0"/>
              <a:t>Memory Hierarchy</a:t>
            </a:r>
            <a:endParaRPr lang="en-IN" sz="2400" dirty="0"/>
          </a:p>
          <a:p>
            <a:pPr marL="0" indent="0">
              <a:buNone/>
            </a:pPr>
            <a:endParaRPr lang="en-IN" dirty="0"/>
          </a:p>
        </p:txBody>
      </p:sp>
      <p:pic>
        <p:nvPicPr>
          <p:cNvPr id="4" name="Picture 3"/>
          <p:cNvPicPr>
            <a:picLocks noChangeAspect="1"/>
          </p:cNvPicPr>
          <p:nvPr/>
        </p:nvPicPr>
        <p:blipFill>
          <a:blip r:embed="rId1"/>
          <a:stretch>
            <a:fillRect/>
          </a:stretch>
        </p:blipFill>
        <p:spPr>
          <a:xfrm>
            <a:off x="1257299" y="1944244"/>
            <a:ext cx="10272713" cy="462800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Content Placeholder 2"/>
          <p:cNvSpPr>
            <a:spLocks noGrp="1"/>
          </p:cNvSpPr>
          <p:nvPr>
            <p:ph idx="1"/>
          </p:nvPr>
        </p:nvSpPr>
        <p:spPr>
          <a:xfrm>
            <a:off x="1069848" y="1214438"/>
            <a:ext cx="10058400" cy="4957762"/>
          </a:xfrm>
        </p:spPr>
        <p:txBody>
          <a:bodyPr/>
          <a:lstStyle/>
          <a:p>
            <a:pPr marL="0" indent="0" algn="l" fontAlgn="base">
              <a:buNone/>
            </a:pPr>
            <a:r>
              <a:rPr lang="en-IN" sz="2000" b="1" i="0" dirty="0">
                <a:solidFill>
                  <a:srgbClr val="273239"/>
                </a:solidFill>
                <a:effectLst/>
                <a:latin typeface="Nunito" pitchFamily="2" charset="0"/>
              </a:rPr>
              <a:t>Memory Management</a:t>
            </a:r>
            <a:endParaRPr lang="en-IN" sz="2000" b="1" i="0" dirty="0">
              <a:solidFill>
                <a:srgbClr val="273239"/>
              </a:solidFill>
              <a:effectLst/>
              <a:latin typeface="Nunito" pitchFamily="2" charset="0"/>
            </a:endParaRPr>
          </a:p>
          <a:p>
            <a:pPr marL="0" indent="0" algn="l" fontAlgn="base">
              <a:buNone/>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 a multiprogramming computer, the </a:t>
            </a:r>
            <a:r>
              <a:rPr lang="en-US" b="0" i="0" u="sng" dirty="0">
                <a:effectLst/>
                <a:latin typeface="Calibri" panose="020F0502020204030204" pitchFamily="34" charset="0"/>
                <a:ea typeface="Calibri" panose="020F0502020204030204" pitchFamily="34" charset="0"/>
                <a:cs typeface="Calibri" panose="020F0502020204030204" pitchFamily="34" charset="0"/>
              </a:rPr>
              <a:t>Operating System</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resides in a part of memory, and the rest is used by multiple processes. The task of subdividing the memory among different processes is called </a:t>
            </a: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Memory Management</a:t>
            </a:r>
            <a:r>
              <a:rPr lang="en-IN" b="1" dirty="0">
                <a:solidFill>
                  <a:srgbClr val="273239"/>
                </a:solidFill>
                <a:latin typeface="Calibri" panose="020F0502020204030204" pitchFamily="34" charset="0"/>
                <a:ea typeface="Calibri" panose="020F0502020204030204" pitchFamily="34" charset="0"/>
                <a:cs typeface="Calibri" panose="020F0502020204030204" pitchFamily="34" charset="0"/>
              </a:rPr>
              <a:t>.</a:t>
            </a:r>
            <a:endParaRPr lang="en-IN"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a:p>
            <a:pPr marL="0" indent="0">
              <a:buNone/>
            </a:pPr>
            <a:r>
              <a:rPr lang="en-IN" dirty="0"/>
              <a:t>Need of Memory Management</a:t>
            </a:r>
            <a:endParaRPr lang="en-IN" dirty="0"/>
          </a:p>
          <a:p>
            <a:pPr marL="0" indent="0">
              <a:buNone/>
            </a:pPr>
            <a:endParaRPr lang="en-IN" dirty="0"/>
          </a:p>
          <a:p>
            <a:pPr algn="l" fontAlgn="base">
              <a:buFont typeface="Wingdings" panose="05000000000000000000" pitchFamily="2" charset="2"/>
              <a:buChar char="ü"/>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Allocate and de-allocate memory before and after process execution.</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Wingdings" panose="05000000000000000000" pitchFamily="2" charset="2"/>
              <a:buChar char="ü"/>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To keep track of used memory space by processes.</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Wingdings" panose="05000000000000000000" pitchFamily="2" charset="2"/>
              <a:buChar char="ü"/>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To minimize </a:t>
            </a:r>
            <a:r>
              <a:rPr lang="en-US" b="0" i="0"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fragmentation </a:t>
            </a: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issues.</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Wingdings" panose="05000000000000000000" pitchFamily="2" charset="2"/>
              <a:buChar char="ü"/>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To proper utilization of main memory.</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Wingdings" panose="05000000000000000000" pitchFamily="2" charset="2"/>
              <a:buChar char="ü"/>
            </a:pPr>
            <a:r>
              <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To maintain data integrity while executing of process.</a:t>
            </a:r>
            <a:endParaRPr lang="en-US"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Content Placeholder 2"/>
          <p:cNvSpPr>
            <a:spLocks noGrp="1"/>
          </p:cNvSpPr>
          <p:nvPr>
            <p:ph idx="1"/>
          </p:nvPr>
        </p:nvSpPr>
        <p:spPr>
          <a:xfrm>
            <a:off x="1069848" y="1214438"/>
            <a:ext cx="10058400" cy="4957762"/>
          </a:xfrm>
        </p:spPr>
        <p:txBody>
          <a:bodyPr/>
          <a:lstStyle/>
          <a:p>
            <a:pPr marL="0" indent="0" algn="l" fontAlgn="base">
              <a:buNone/>
            </a:pPr>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Logical and Physical Address Space</a:t>
            </a: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indent="0" algn="l" fontAlgn="base">
              <a:buNone/>
            </a:pP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buFont typeface="Wingdings" panose="05000000000000000000" pitchFamily="2" charset="2"/>
              <a:buChar char="Ø"/>
            </a:pPr>
            <a:r>
              <a:rPr lang="en-US"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Logical Address Space</a:t>
            </a:r>
            <a:r>
              <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An address generated by the CPU is known as a “Logical Address”. It is also known as a Virtual address. Logical address space can be defined as the size of the process. A logical address can be changed.</a:t>
            </a:r>
            <a:endPar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0" indent="0" algn="just" fontAlgn="base">
              <a:buNone/>
            </a:pPr>
            <a:endPar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buFont typeface="Wingdings" panose="05000000000000000000" pitchFamily="2" charset="2"/>
              <a:buChar char="Ø"/>
            </a:pPr>
            <a:r>
              <a:rPr lang="en-US" sz="20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Physical Address Space</a:t>
            </a:r>
            <a:r>
              <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An address seen by the memory unit (i.e. the one loaded into the memory address register of the memory) is commonly known as a “Physical Address”. A Physical address is also known as a Real address. The set of all physical addresses corresponding to these logical addresses is known as Physical address space. A physical address is computed by MMU. The run-time mapping from virtual to physical addresses is done by a hardware device Memory Management Unit(MMU). The physical address always remains constant.</a:t>
            </a:r>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pic>
        <p:nvPicPr>
          <p:cNvPr id="1026" name="Picture 2" descr="Logical (Virtual) Vs Physical Address Space - Operating System - Computer  Science Engineering (CSE) PDF Download"/>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69847" y="1343025"/>
            <a:ext cx="10617327" cy="48577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063752" y="1042988"/>
            <a:ext cx="9786937" cy="5909310"/>
          </a:xfrm>
          <a:prstGeom prst="rect">
            <a:avLst/>
          </a:prstGeom>
          <a:noFill/>
        </p:spPr>
        <p:txBody>
          <a:bodyPr wrap="square" rtlCol="0">
            <a:spAutoFit/>
          </a:bodyPr>
          <a:lstStyle/>
          <a:p>
            <a:pPr algn="just" fontAlgn="base"/>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Static and Dynamic Loading</a:t>
            </a: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rtl="0" fontAlgn="base"/>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Loading a process into the main memory is done by a loader. There are two different types of loading :</a:t>
            </a:r>
            <a:endPar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rtl="0" fontAlgn="base"/>
            <a:endPar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buFont typeface="Arial" panose="020B0604020202090204" pitchFamily="34" charset="0"/>
              <a:buChar char="•"/>
            </a:pPr>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Static Loading:</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Static Loading is basically loading the entire program into a fixed address. It requires more memory space.</a:t>
            </a:r>
            <a:endPar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buFont typeface="Arial" panose="020B0604020202090204" pitchFamily="34" charset="0"/>
              <a:buChar char="•"/>
            </a:pPr>
            <a:endPar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buFont typeface="Arial" panose="020B0604020202090204" pitchFamily="34" charset="0"/>
              <a:buChar char="•"/>
            </a:pPr>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Dynamic Loading:</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The entire program and all data of a process must be in physical memory for the process to execute. So, the size of a process is limited to the size of </a:t>
            </a:r>
            <a:r>
              <a:rPr lang="en-US" sz="2400" b="0" i="0"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physical memory.</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To gain proper memory utilization, dynamic loading is used. In </a:t>
            </a:r>
            <a:r>
              <a:rPr lang="en-US" sz="2400" b="0" i="0"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dynamic loading</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 routine is not loaded until it is called. All routines are residing on disk in a </a:t>
            </a:r>
            <a:r>
              <a:rPr lang="en-US" sz="2400" b="0" i="0"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relocatable </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load format. One of the advantages of dynamic loading is that the unused </a:t>
            </a:r>
            <a:r>
              <a:rPr lang="en-US" sz="2400" b="0" i="0" u="sng"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routine </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is never loaded. This loading is useful when a large amount of code is needed to handle it efficiently.</a:t>
            </a:r>
            <a:endPar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063752" y="1042988"/>
            <a:ext cx="9786937" cy="4984750"/>
          </a:xfrm>
          <a:prstGeom prst="rect">
            <a:avLst/>
          </a:prstGeom>
          <a:noFill/>
        </p:spPr>
        <p:txBody>
          <a:bodyPr wrap="square" rtlCol="0">
            <a:spAutoFit/>
          </a:bodyPr>
          <a:lstStyle/>
          <a:p>
            <a:pPr algn="just" fontAlgn="base"/>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Static and Dynamic Linking</a:t>
            </a: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14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To perform a linking task a linker is used. A linker is a program that takes one or more object files generated by a compiler and combines them into a single executable file. </a:t>
            </a:r>
            <a:endPar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Static Linking: In static linking, the linker combines all necessary program modules into a single executable program. So there is no runtime dependency. Some operating systems support only static linking, in which system language libraries are treated like any other object module.</a:t>
            </a:r>
            <a:endPar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sz="200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Dynamic Linking: The basic concept of dynamic linking is similar to dynamic loading. In dynamic linking, “Stub” is included for each appropriate library routine reference. A stub is a small piece of code. When the stub is executed, it checks whether the needed routine is already in memory or not. If not available then the program loads the routine into memory.</a:t>
            </a:r>
            <a:endParaRPr lang="en-IN"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063752" y="1042988"/>
            <a:ext cx="9786937" cy="1046440"/>
          </a:xfrm>
          <a:prstGeom prst="rect">
            <a:avLst/>
          </a:prstGeom>
          <a:noFill/>
        </p:spPr>
        <p:txBody>
          <a:bodyPr wrap="square" rtlCol="0">
            <a:spAutoFit/>
          </a:bodyPr>
          <a:lstStyle/>
          <a:p>
            <a:pPr algn="just" fontAlgn="base"/>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Memory Allocation Techniques</a:t>
            </a: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1400"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1228726" y="2089428"/>
            <a:ext cx="9899522" cy="42839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202531" y="1042988"/>
            <a:ext cx="9786937" cy="5262979"/>
          </a:xfrm>
          <a:prstGeom prst="rect">
            <a:avLst/>
          </a:prstGeom>
          <a:noFill/>
        </p:spPr>
        <p:txBody>
          <a:bodyPr wrap="square" rtlCol="0">
            <a:spAutoFit/>
          </a:bodyPr>
          <a:lstStyle/>
          <a:p>
            <a:pPr algn="just" fontAlgn="base"/>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Contiguous Memory Allocation Technique:</a:t>
            </a: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24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effectLst/>
                <a:latin typeface="Calibri" panose="020F0502020204030204" pitchFamily="34" charset="0"/>
                <a:ea typeface="Calibri" panose="020F0502020204030204" pitchFamily="34" charset="0"/>
                <a:cs typeface="Calibri" panose="020F0502020204030204" pitchFamily="34" charset="0"/>
              </a:rPr>
              <a:t>In this technique, contiguous blocks of memory are allocated to each process. So, whenever a process wants to enter the main memory, continuous segment from the totally empty space to the process based on its size are allocated.</a:t>
            </a:r>
            <a:endParaRPr lang="en-US" sz="2400" dirty="0">
              <a:effectLst/>
              <a:latin typeface="Calibri" panose="020F0502020204030204" pitchFamily="34" charset="0"/>
              <a:ea typeface="Calibri" panose="020F0502020204030204" pitchFamily="34" charset="0"/>
              <a:cs typeface="Calibri" panose="020F0502020204030204" pitchFamily="34" charset="0"/>
            </a:endParaRPr>
          </a:p>
          <a:p>
            <a:pPr algn="just"/>
            <a:endParaRPr lang="en-US" sz="2400" dirty="0">
              <a:latin typeface="Calibri" panose="020F0502020204030204" pitchFamily="34" charset="0"/>
              <a:ea typeface="Calibri" panose="020F0502020204030204" pitchFamily="34" charset="0"/>
              <a:cs typeface="Calibri" panose="020F0502020204030204" pitchFamily="34" charset="0"/>
            </a:endParaRPr>
          </a:p>
          <a:p>
            <a:pPr algn="just"/>
            <a:r>
              <a:rPr lang="en-US" sz="2400" dirty="0">
                <a:effectLst/>
                <a:latin typeface="Calibri" panose="020F0502020204030204" pitchFamily="34" charset="0"/>
                <a:ea typeface="Calibri" panose="020F0502020204030204" pitchFamily="34" charset="0"/>
                <a:cs typeface="Calibri" panose="020F0502020204030204" pitchFamily="34" charset="0"/>
              </a:rPr>
              <a:t>This allocation can be done in two ways:</a:t>
            </a:r>
            <a:endParaRPr lang="en-US" sz="2400" dirty="0">
              <a:effectLst/>
              <a:latin typeface="Calibri" panose="020F0502020204030204" pitchFamily="34" charset="0"/>
              <a:ea typeface="Calibri" panose="020F0502020204030204" pitchFamily="34" charset="0"/>
              <a:cs typeface="Calibri" panose="020F0502020204030204" pitchFamily="34" charset="0"/>
            </a:endParaRPr>
          </a:p>
          <a:p>
            <a:pPr algn="just"/>
            <a:endParaRPr lang="en-US" sz="24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lnSpc>
                <a:spcPct val="150000"/>
              </a:lnSpc>
              <a:buFont typeface="Wingdings" panose="05000000000000000000" pitchFamily="2" charset="2"/>
              <a:buChar char="ü"/>
            </a:pPr>
            <a:r>
              <a:rPr lang="en-US" sz="2400" dirty="0">
                <a:effectLst/>
                <a:latin typeface="Calibri" panose="020F0502020204030204" pitchFamily="34" charset="0"/>
                <a:ea typeface="Calibri" panose="020F0502020204030204" pitchFamily="34" charset="0"/>
                <a:cs typeface="Calibri" panose="020F0502020204030204" pitchFamily="34" charset="0"/>
              </a:rPr>
              <a:t>Fixed-size Partition Scheme</a:t>
            </a:r>
            <a:endParaRPr lang="en-US" sz="240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a:lnSpc>
                <a:spcPct val="150000"/>
              </a:lnSpc>
              <a:buFont typeface="Wingdings" panose="05000000000000000000" pitchFamily="2" charset="2"/>
              <a:buChar char="ü"/>
            </a:pPr>
            <a:r>
              <a:rPr lang="en-US" sz="2400" dirty="0">
                <a:effectLst/>
                <a:latin typeface="Calibri" panose="020F0502020204030204" pitchFamily="34" charset="0"/>
                <a:ea typeface="Calibri" panose="020F0502020204030204" pitchFamily="34" charset="0"/>
                <a:cs typeface="Calibri" panose="020F0502020204030204" pitchFamily="34" charset="0"/>
              </a:rPr>
              <a:t>Variable-size Partition Scheme</a:t>
            </a:r>
            <a:endParaRPr lang="en-US" sz="2400" dirty="0">
              <a:effectLst/>
              <a:latin typeface="Calibri" panose="020F0502020204030204" pitchFamily="34" charset="0"/>
              <a:ea typeface="Calibri" panose="020F0502020204030204" pitchFamily="34" charset="0"/>
              <a:cs typeface="Calibri" panose="020F0502020204030204" pitchFamily="34" charset="0"/>
            </a:endParaRPr>
          </a:p>
          <a:p>
            <a:pPr algn="just"/>
            <a:endPar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202531" y="1042988"/>
            <a:ext cx="9786937" cy="3170099"/>
          </a:xfrm>
          <a:prstGeom prst="rect">
            <a:avLst/>
          </a:prstGeom>
          <a:noFill/>
        </p:spPr>
        <p:txBody>
          <a:bodyPr wrap="square" rtlCol="0">
            <a:spAutoFit/>
          </a:bodyPr>
          <a:lstStyle/>
          <a:p>
            <a:pPr algn="just" fontAlgn="base"/>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Fixed-size Partition Scheme:</a:t>
            </a: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11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In this type of contiguous memory allocation technique, each process is allotted a fixed-size continuous block in the main memory. That means there will be continuous blocks of fixed size into which the complete memory will be divided, and each time a process comes in, it will be allotted one of the free blocks. Because irrespective of the size of the process, each is allotted a block of the same size memory space. This technique is also called </a:t>
            </a:r>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static partitioning</a:t>
            </a:r>
            <a:r>
              <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t>
            </a:r>
            <a:endPar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24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2014538" y="3719512"/>
            <a:ext cx="8272462" cy="286702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202531" y="1042988"/>
            <a:ext cx="5872160" cy="5709255"/>
          </a:xfrm>
          <a:prstGeom prst="rect">
            <a:avLst/>
          </a:prstGeom>
          <a:noFill/>
        </p:spPr>
        <p:txBody>
          <a:bodyPr wrap="square" rtlCol="0">
            <a:spAutoFit/>
          </a:bodyPr>
          <a:lstStyle/>
          <a:p>
            <a:pPr algn="just" fontAlgn="base"/>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Fixed-size Partition Scheme:</a:t>
            </a:r>
            <a:endPar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24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fontAlgn="base"/>
            <a:r>
              <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Advantages:</a:t>
            </a:r>
            <a:endParaRPr lang="en-US"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fontAlgn="base">
              <a:buFont typeface="Arial" panose="020B0604020202090204" pitchFamily="34" charset="0"/>
              <a:buChar char="•"/>
            </a:pPr>
            <a:r>
              <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Supports Multiprogramming       </a:t>
            </a:r>
            <a:endPar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marL="342900" indent="-342900" algn="just" fontAlgn="base">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Simple to implement</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fontAlgn="base">
              <a:buFont typeface="Arial" panose="020B0604020202090204" pitchFamily="34" charset="0"/>
              <a:buChar char="•"/>
            </a:pPr>
            <a:r>
              <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Tracking of blocks is easy</a:t>
            </a:r>
            <a:endPar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r>
              <a:rPr lang="en-US" b="1" dirty="0">
                <a:solidFill>
                  <a:srgbClr val="273239"/>
                </a:solidFill>
                <a:latin typeface="Calibri" panose="020F0502020204030204" pitchFamily="34" charset="0"/>
                <a:ea typeface="Calibri" panose="020F0502020204030204" pitchFamily="34" charset="0"/>
                <a:cs typeface="Calibri" panose="020F0502020204030204" pitchFamily="34" charset="0"/>
              </a:rPr>
              <a:t>Disadvantages:</a:t>
            </a:r>
            <a:endParaRPr lang="en-US"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fontAlgn="base">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Allocating space to process which have size greater then block size is not possible</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fontAlgn="base">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size of the blocks decides the </a:t>
            </a:r>
            <a:r>
              <a:rPr lang="en-US" b="1" dirty="0">
                <a:solidFill>
                  <a:srgbClr val="273239"/>
                </a:solidFill>
                <a:latin typeface="Calibri" panose="020F0502020204030204" pitchFamily="34" charset="0"/>
                <a:ea typeface="Calibri" panose="020F0502020204030204" pitchFamily="34" charset="0"/>
                <a:cs typeface="Calibri" panose="020F0502020204030204" pitchFamily="34" charset="0"/>
              </a:rPr>
              <a:t>degree of multiprogramming</a:t>
            </a:r>
            <a:endParaRPr lang="en-US"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285750" indent="-285750" algn="just" fontAlgn="base">
              <a:buFont typeface="Arial" panose="020B0604020202090204" pitchFamily="34" charset="0"/>
              <a:buChar char="•"/>
            </a:pPr>
            <a:r>
              <a:rPr lang="en-US" b="1" dirty="0">
                <a:solidFill>
                  <a:srgbClr val="273239"/>
                </a:solidFill>
                <a:latin typeface="Calibri" panose="020F0502020204030204" pitchFamily="34" charset="0"/>
                <a:ea typeface="Calibri" panose="020F0502020204030204" pitchFamily="34" charset="0"/>
                <a:cs typeface="Calibri" panose="020F0502020204030204" pitchFamily="34" charset="0"/>
              </a:rPr>
              <a:t>Internal Fragmentation</a:t>
            </a:r>
            <a:endParaRPr lang="en-US"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11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24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endParaRPr>
          </a:p>
        </p:txBody>
      </p:sp>
      <p:pic>
        <p:nvPicPr>
          <p:cNvPr id="2050" name="Picture 2" descr="Contiguous Memory Allocation in Operating System"/>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74691" y="1271588"/>
            <a:ext cx="4755358" cy="464343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202530" y="1042988"/>
            <a:ext cx="10058399" cy="3231654"/>
          </a:xfrm>
          <a:prstGeom prst="rect">
            <a:avLst/>
          </a:prstGeom>
          <a:noFill/>
        </p:spPr>
        <p:txBody>
          <a:bodyPr wrap="square" rtlCol="0">
            <a:spAutoFit/>
          </a:bodyPr>
          <a:lstStyle/>
          <a:p>
            <a:pPr algn="just">
              <a:lnSpc>
                <a:spcPct val="150000"/>
              </a:lnSpc>
            </a:pPr>
            <a:r>
              <a:rPr lang="en-US" sz="2400" b="1" dirty="0">
                <a:effectLst/>
                <a:latin typeface="Calibri" panose="020F0502020204030204" pitchFamily="34" charset="0"/>
                <a:ea typeface="Calibri" panose="020F0502020204030204" pitchFamily="34" charset="0"/>
                <a:cs typeface="Calibri" panose="020F0502020204030204" pitchFamily="34" charset="0"/>
              </a:rPr>
              <a:t>Variable-size Partition Scheme</a:t>
            </a:r>
            <a:endParaRPr lang="en-US" sz="2400" b="1" dirty="0">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24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rPr>
              <a:t>In this type of contiguous memory allocation technique, no fixed blocks or partitions are made in the memory. Instead, each process is allotted a variable-sized block depending upon its requirements.</a:t>
            </a:r>
            <a:endPar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rPr>
              <a:t>As the blocks are variable-sized, which is decided as processes arrive, this scheme is also called </a:t>
            </a:r>
            <a:r>
              <a:rPr lang="en-US" sz="2400" b="1" dirty="0">
                <a:solidFill>
                  <a:srgbClr val="273239"/>
                </a:solidFill>
                <a:latin typeface="Calibri" panose="020F0502020204030204" pitchFamily="34" charset="0"/>
                <a:ea typeface="Calibri" panose="020F0502020204030204" pitchFamily="34" charset="0"/>
                <a:cs typeface="Calibri" panose="020F0502020204030204" pitchFamily="34" charset="0"/>
              </a:rPr>
              <a:t>Dynamic Partitioning</a:t>
            </a:r>
            <a:r>
              <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rPr>
              <a:t>.</a:t>
            </a:r>
            <a:endParaRPr lang="en-US" sz="2400" dirty="0">
              <a:solidFill>
                <a:srgbClr val="273239"/>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202530" y="1042988"/>
            <a:ext cx="5426870" cy="4724370"/>
          </a:xfrm>
          <a:prstGeom prst="rect">
            <a:avLst/>
          </a:prstGeom>
          <a:noFill/>
        </p:spPr>
        <p:txBody>
          <a:bodyPr wrap="square" rtlCol="0">
            <a:spAutoFit/>
          </a:bodyPr>
          <a:lstStyle/>
          <a:p>
            <a:pPr algn="just">
              <a:lnSpc>
                <a:spcPct val="150000"/>
              </a:lnSpc>
            </a:pPr>
            <a:r>
              <a:rPr lang="en-US" sz="2400" b="1" dirty="0">
                <a:effectLst/>
                <a:latin typeface="Calibri" panose="020F0502020204030204" pitchFamily="34" charset="0"/>
                <a:ea typeface="Calibri" panose="020F0502020204030204" pitchFamily="34" charset="0"/>
                <a:cs typeface="Calibri" panose="020F0502020204030204" pitchFamily="34" charset="0"/>
              </a:rPr>
              <a:t>Variable-size Partition Scheme</a:t>
            </a:r>
            <a:endParaRPr lang="en-US" sz="2400" b="1" dirty="0">
              <a:effectLst/>
              <a:latin typeface="Calibri" panose="020F0502020204030204" pitchFamily="34" charset="0"/>
              <a:ea typeface="Calibri" panose="020F0502020204030204" pitchFamily="34" charset="0"/>
              <a:cs typeface="Calibri" panose="020F0502020204030204" pitchFamily="34" charset="0"/>
            </a:endParaRPr>
          </a:p>
          <a:p>
            <a:pPr algn="just" fontAlgn="base"/>
            <a:endParaRPr lang="en-US" sz="105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rPr>
              <a:t>Advantages:</a:t>
            </a:r>
            <a:endPar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12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No Internal Fragmentation</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Degree of multiprogramming is not dependent on block size</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Large size processes could be allocated space</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90204" pitchFamily="34" charset="0"/>
              <a:buChar char="•"/>
            </a:pPr>
            <a:endParaRPr lang="en-US" sz="12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r>
              <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rPr>
              <a:t>Disadvantages:</a:t>
            </a:r>
            <a:endParaRPr lang="en-US" sz="200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endParaRPr lang="en-US" sz="1050"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a variable-size partition scheme is difficult to implement.</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90204" pitchFamily="34" charset="0"/>
              <a:buChar char="•"/>
            </a:pPr>
            <a:r>
              <a:rPr lang="en-US" dirty="0">
                <a:solidFill>
                  <a:srgbClr val="273239"/>
                </a:solidFill>
                <a:latin typeface="Calibri" panose="020F0502020204030204" pitchFamily="34" charset="0"/>
                <a:ea typeface="Calibri" panose="020F0502020204030204" pitchFamily="34" charset="0"/>
                <a:cs typeface="Calibri" panose="020F0502020204030204" pitchFamily="34" charset="0"/>
              </a:rPr>
              <a:t>It is difficult to keep track of processes and the remaining space in the memory.</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just">
              <a:buFont typeface="Arial" panose="020B0604020202090204" pitchFamily="34" charset="0"/>
              <a:buChar char="•"/>
            </a:pPr>
            <a:r>
              <a:rPr lang="en-US" b="1" dirty="0">
                <a:solidFill>
                  <a:srgbClr val="273239"/>
                </a:solidFill>
                <a:latin typeface="Calibri" panose="020F0502020204030204" pitchFamily="34" charset="0"/>
                <a:ea typeface="Calibri" panose="020F0502020204030204" pitchFamily="34" charset="0"/>
                <a:cs typeface="Calibri" panose="020F0502020204030204" pitchFamily="34" charset="0"/>
              </a:rPr>
              <a:t>External Fragmentation</a:t>
            </a:r>
            <a:endParaRPr lang="en-US"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endParaRPr lang="en-US" b="1" dirty="0">
              <a:solidFill>
                <a:srgbClr val="273239"/>
              </a:solidFill>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p:cNvPicPr>
            <a:picLocks noChangeAspect="1"/>
          </p:cNvPicPr>
          <p:nvPr/>
        </p:nvPicPr>
        <p:blipFill>
          <a:blip r:embed="rId1"/>
          <a:stretch>
            <a:fillRect/>
          </a:stretch>
        </p:blipFill>
        <p:spPr>
          <a:xfrm>
            <a:off x="6762082" y="2309812"/>
            <a:ext cx="5153025" cy="3248025"/>
          </a:xfrm>
          <a:prstGeom prst="rect">
            <a:avLst/>
          </a:prstGeom>
        </p:spPr>
      </p:pic>
      <p:sp>
        <p:nvSpPr>
          <p:cNvPr id="5" name="TextBox 4"/>
          <p:cNvSpPr txBox="1"/>
          <p:nvPr/>
        </p:nvSpPr>
        <p:spPr>
          <a:xfrm>
            <a:off x="1202530" y="6000750"/>
            <a:ext cx="9541670" cy="923330"/>
          </a:xfrm>
          <a:prstGeom prst="rect">
            <a:avLst/>
          </a:prstGeom>
          <a:noFill/>
        </p:spPr>
        <p:txBody>
          <a:bodyPr wrap="square" rtlCol="0">
            <a:spAutoFit/>
          </a:bodyPr>
          <a:lstStyle/>
          <a:p>
            <a:r>
              <a:rPr lang="en-US" b="1" dirty="0">
                <a:solidFill>
                  <a:schemeClr val="accent1"/>
                </a:solidFill>
                <a:latin typeface="Calibri" panose="020F0502020204030204" pitchFamily="34" charset="0"/>
                <a:ea typeface="Calibri" panose="020F0502020204030204" pitchFamily="34" charset="0"/>
                <a:cs typeface="Calibri" panose="020F0502020204030204" pitchFamily="34" charset="0"/>
              </a:rPr>
              <a:t>SOLUTION OF EXTERNAL FRAGMENTATION IS COMPACTION INCASE DYNAMIC PARTITIONS ARE RELOCATATBLE</a:t>
            </a:r>
            <a:endParaRPr lang="en-US" b="1"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202530" y="1042988"/>
            <a:ext cx="10527508" cy="4370427"/>
          </a:xfrm>
          <a:prstGeom prst="rect">
            <a:avLst/>
          </a:prstGeom>
          <a:noFill/>
        </p:spPr>
        <p:txBody>
          <a:bodyPr wrap="square" rtlCol="0">
            <a:spAutoFit/>
          </a:bodyPr>
          <a:lstStyle/>
          <a:p>
            <a:pPr algn="l"/>
            <a:endParaRPr lang="en-US" sz="2400" b="1" i="0" dirty="0">
              <a:effectLst/>
              <a:latin typeface="__Source_Sans_Pro_fea366"/>
            </a:endParaRPr>
          </a:p>
          <a:p>
            <a:pPr algn="l"/>
            <a:r>
              <a:rPr lang="en-US" sz="2400" b="1" i="0" dirty="0">
                <a:effectLst/>
                <a:latin typeface="__Source_Sans_Pro_fea366"/>
              </a:rPr>
              <a:t>Strategies Used for Contiguous Memory Allocation Input Queues</a:t>
            </a:r>
            <a:endParaRPr lang="en-US" sz="2400" b="1" i="0" dirty="0">
              <a:effectLst/>
              <a:latin typeface="__Source_Sans_Pro_fea366"/>
            </a:endParaRPr>
          </a:p>
          <a:p>
            <a:pPr algn="l"/>
            <a:endParaRPr lang="en-US" sz="2400" b="1" dirty="0">
              <a:latin typeface="__Source_Sans_Pro_fea366"/>
            </a:endParaRPr>
          </a:p>
          <a:p>
            <a:pPr algn="l"/>
            <a:endParaRPr lang="en-US" sz="2400" b="1" i="0" dirty="0">
              <a:effectLst/>
              <a:latin typeface="__Source_Sans_Pro_fea366"/>
            </a:endParaRPr>
          </a:p>
          <a:p>
            <a:pPr marL="342900" indent="-342900" algn="l">
              <a:buFont typeface="Wingdings" panose="05000000000000000000" pitchFamily="2" charset="2"/>
              <a:buChar char="ü"/>
            </a:pPr>
            <a:r>
              <a:rPr lang="en-US" sz="2400" dirty="0">
                <a:latin typeface="Calibri" panose="020F0502020204030204" pitchFamily="34" charset="0"/>
                <a:ea typeface="Calibri" panose="020F0502020204030204" pitchFamily="34" charset="0"/>
                <a:cs typeface="Calibri" panose="020F0502020204030204" pitchFamily="34" charset="0"/>
              </a:rPr>
              <a:t>First Fit : </a:t>
            </a:r>
            <a:r>
              <a:rPr kumimoji="0" lang="en-US" altLang="en-US" sz="2000" b="0" i="0" u="none" strike="noStrike" cap="none" normalizeH="0" baseline="0" dirty="0">
                <a:ln>
                  <a:noFill/>
                </a:ln>
                <a:solidFill>
                  <a:srgbClr val="273239"/>
                </a:solidFill>
                <a:effectLst/>
                <a:latin typeface="Calibri" panose="020F0502020204030204" pitchFamily="34" charset="0"/>
                <a:ea typeface="Calibri" panose="020F0502020204030204" pitchFamily="34" charset="0"/>
                <a:cs typeface="Calibri" panose="020F0502020204030204" pitchFamily="34" charset="0"/>
              </a:rPr>
              <a:t>the first available free hole fulfil the requirement of the process allocated</a:t>
            </a: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lgn="l">
              <a:buFont typeface="Wingdings" panose="05000000000000000000" pitchFamily="2" charset="2"/>
              <a:buChar char="ü"/>
            </a:pPr>
            <a:endParaRPr lang="en-US" sz="2400" i="0" dirty="0">
              <a:effectLst/>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ü"/>
            </a:pPr>
            <a:r>
              <a:rPr lang="en-US" sz="2400" dirty="0">
                <a:latin typeface="Calibri" panose="020F0502020204030204" pitchFamily="34" charset="0"/>
                <a:ea typeface="Calibri" panose="020F0502020204030204" pitchFamily="34" charset="0"/>
                <a:cs typeface="Calibri" panose="020F0502020204030204" pitchFamily="34" charset="0"/>
              </a:rPr>
              <a:t>Best Fit : </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rPr>
              <a:t>In the Best Fit, allocate the smallest hole that is big enough to process requirements. For this, we search the entire list, unless the list is ordered by size. </a:t>
            </a:r>
            <a:endPar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marL="342900" indent="-342900" algn="l">
              <a:buFont typeface="Wingdings" panose="05000000000000000000" pitchFamily="2" charset="2"/>
              <a:buChar char="ü"/>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Wingdings" panose="05000000000000000000" pitchFamily="2" charset="2"/>
              <a:buChar char="ü"/>
            </a:pPr>
            <a:r>
              <a:rPr lang="en-US" sz="2400" i="0" dirty="0">
                <a:effectLst/>
                <a:latin typeface="Calibri" panose="020F0502020204030204" pitchFamily="34" charset="0"/>
                <a:ea typeface="Calibri" panose="020F0502020204030204" pitchFamily="34" charset="0"/>
                <a:cs typeface="Calibri" panose="020F0502020204030204" pitchFamily="34" charset="0"/>
              </a:rPr>
              <a:t>Worst Fit : </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rPr>
              <a:t>In the </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hlinkClick r:id="rId1"/>
              </a:rPr>
              <a:t>Worst Fit</a:t>
            </a:r>
            <a:r>
              <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rPr>
              <a:t>, allocate the largest available hole to process. This method produces the largest leftover hole. </a:t>
            </a:r>
            <a:endParaRPr lang="en-US" sz="2000" dirty="0">
              <a:solidFill>
                <a:srgbClr val="273239"/>
              </a:solidFill>
              <a:latin typeface="Calibri" panose="020F0502020204030204" pitchFamily="34" charset="0"/>
              <a:ea typeface="Calibri" panose="020F0502020204030204" pitchFamily="34" charset="0"/>
              <a:cs typeface="Calibri" panose="020F0502020204030204" pitchFamily="34" charset="0"/>
            </a:endParaRPr>
          </a:p>
          <a:p>
            <a:pPr algn="just"/>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3" name="TextBox 2"/>
          <p:cNvSpPr txBox="1"/>
          <p:nvPr/>
        </p:nvSpPr>
        <p:spPr>
          <a:xfrm>
            <a:off x="1069848" y="1071563"/>
            <a:ext cx="10527508" cy="5632311"/>
          </a:xfrm>
          <a:prstGeom prst="rect">
            <a:avLst/>
          </a:prstGeom>
          <a:noFill/>
        </p:spPr>
        <p:txBody>
          <a:bodyPr wrap="square" rtlCol="0">
            <a:spAutoFit/>
          </a:bodyPr>
          <a:lstStyle/>
          <a:p>
            <a:pPr algn="l"/>
            <a:endParaRPr lang="en-US" sz="2400" b="1" i="0" dirty="0">
              <a:effectLst/>
              <a:latin typeface="__Source_Sans_Pro_fea366"/>
            </a:endParaRPr>
          </a:p>
          <a:p>
            <a:pPr algn="l"/>
            <a:r>
              <a:rPr lang="en-US" sz="2400" b="1" i="0" dirty="0">
                <a:effectLst/>
                <a:latin typeface="__Source_Sans_Pro_fea366"/>
              </a:rPr>
              <a:t>Strategies Used for Contiguous Memory Allocation Input Queues</a:t>
            </a:r>
            <a:endParaRPr lang="en-US" sz="2400" b="1" i="0" dirty="0">
              <a:effectLst/>
              <a:latin typeface="__Source_Sans_Pro_fea366"/>
            </a:endParaRPr>
          </a:p>
          <a:p>
            <a:pPr algn="l"/>
            <a:endParaRPr lang="en-US" sz="2400" b="1" dirty="0">
              <a:latin typeface="__Source_Sans_Pro_fea366"/>
            </a:endParaRPr>
          </a:p>
          <a:p>
            <a:pPr algn="l" fontAlgn="base"/>
            <a:r>
              <a:rPr lang="en-US" sz="2400" b="1" i="0" dirty="0">
                <a:effectLst/>
                <a:latin typeface="__Source_Sans_Pro_fea366"/>
              </a:rPr>
              <a:t>Example: </a:t>
            </a:r>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Consider six memory holes of size 200 KB, 400 KB, 600 KB, 500 KB, 300 KB and 250 KB. These partitions need to be allocated to four processes of sizes 357 KB, 210 KB, 468 KB and 491 KB in that order. [Variable size partitioning]</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Perform the allocation of processes using-</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mj-lt"/>
              <a:buAutoNum type="arabicPeriod"/>
            </a:pPr>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First Fit Algorithm</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mj-lt"/>
              <a:buAutoNum type="arabicPeriod"/>
            </a:pPr>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Best Fit Algorithm</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buFont typeface="+mj-lt"/>
              <a:buAutoNum type="arabicPeriod"/>
            </a:pPr>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Worst Fit Algorithm</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a:endParaRPr lang="en-US" sz="2400" b="1" i="0" dirty="0">
              <a:effectLst/>
              <a:latin typeface="Calibri" panose="020F0502020204030204" pitchFamily="34" charset="0"/>
              <a:ea typeface="Calibri" panose="020F0502020204030204" pitchFamily="34" charset="0"/>
              <a:cs typeface="Calibri" panose="020F0502020204030204" pitchFamily="34" charset="0"/>
            </a:endParaRPr>
          </a:p>
          <a:p>
            <a:pPr algn="l"/>
            <a:endParaRPr lang="en-US" sz="2400" b="1" i="0" dirty="0">
              <a:effectLst/>
              <a:latin typeface="Calibri" panose="020F0502020204030204" pitchFamily="34" charset="0"/>
              <a:ea typeface="Calibri" panose="020F0502020204030204" pitchFamily="34" charset="0"/>
              <a:cs typeface="Calibri" panose="020F0502020204030204" pitchFamily="34" charset="0"/>
            </a:endParaRPr>
          </a:p>
          <a:p>
            <a:pPr algn="l"/>
            <a:r>
              <a:rPr lang="en-US" sz="2400" b="1" dirty="0">
                <a:latin typeface="Calibri" panose="020F0502020204030204" pitchFamily="34" charset="0"/>
                <a:ea typeface="Calibri" panose="020F0502020204030204" pitchFamily="34" charset="0"/>
                <a:cs typeface="Calibri" panose="020F0502020204030204" pitchFamily="34" charset="0"/>
              </a:rPr>
              <a:t>Find the best allocation strategy</a:t>
            </a:r>
            <a:endParaRPr lang="en-US" dirty="0">
              <a:solidFill>
                <a:srgbClr val="273239"/>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258445" y="396875"/>
            <a:ext cx="11216640" cy="1720215"/>
          </a:xfrm>
          <a:prstGeom prst="rect">
            <a:avLst/>
          </a:prstGeom>
        </p:spPr>
        <p:txBody>
          <a:bodyPr>
            <a:noAutofit/>
          </a:bodyPr>
          <a:p>
            <a:pPr>
              <a:spcAft>
                <a:spcPct val="60000"/>
              </a:spcAft>
            </a:pPr>
            <a:r>
              <a:rPr lang="en-US" sz="2800" b="1"/>
              <a:t>V</a:t>
            </a:r>
            <a:r>
              <a:rPr sz="2800" b="1"/>
              <a:t>ariable-Size Partitioning: First Fit, Best Fit and Worst Fit</a:t>
            </a:r>
            <a:endParaRPr sz="2800" b="1"/>
          </a:p>
          <a:p>
            <a:r>
              <a:rPr sz="1600"/>
              <a:t>We are given 6 memory holesand 4 processes. We need to allocate the processes in the given order using all three algorithms and then determine the best strategy.</a:t>
            </a:r>
            <a:endParaRPr sz="1600"/>
          </a:p>
          <a:p>
            <a:pPr>
              <a:spcAft>
                <a:spcPct val="60000"/>
              </a:spcAft>
            </a:pPr>
            <a:r>
              <a:rPr sz="2300" b="1"/>
              <a:t>Given data</a:t>
            </a:r>
            <a:endParaRPr sz="2300" b="1"/>
          </a:p>
        </p:txBody>
      </p:sp>
      <p:graphicFrame>
        <p:nvGraphicFramePr>
          <p:cNvPr id="5" name="Table 4"/>
          <p:cNvGraphicFramePr/>
          <p:nvPr/>
        </p:nvGraphicFramePr>
        <p:xfrm>
          <a:off x="496570" y="2117090"/>
          <a:ext cx="10871200" cy="1978025"/>
        </p:xfrm>
        <a:graphic>
          <a:graphicData uri="http://schemas.openxmlformats.org/drawingml/2006/table">
            <a:tbl>
              <a:tblPr/>
              <a:tblGrid>
                <a:gridCol w="5435600"/>
                <a:gridCol w="5435600"/>
              </a:tblGrid>
              <a:tr h="282575">
                <a:tc>
                  <a:txBody>
                    <a:bodyPr/>
                    <a:p>
                      <a:r>
                        <a:rPr sz="1600"/>
                        <a:t>Memory hole</a:t>
                      </a:r>
                      <a:endParaRPr sz="1600"/>
                    </a:p>
                  </a:txBody>
                  <a:tcPr marL="0" marR="0" marT="0" marB="0" anchor="ctr" anchorCtr="0">
                    <a:lnL>
                      <a:noFill/>
                    </a:lnL>
                    <a:lnR>
                      <a:noFill/>
                    </a:lnR>
                    <a:lnT>
                      <a:noFill/>
                    </a:lnT>
                    <a:lnB>
                      <a:noFill/>
                    </a:lnB>
                    <a:noFill/>
                  </a:tcPr>
                </a:tc>
                <a:tc>
                  <a:txBody>
                    <a:bodyPr/>
                    <a:p>
                      <a:r>
                        <a:rPr sz="1600"/>
                        <a:t>Size</a:t>
                      </a:r>
                      <a:endParaRPr sz="1600"/>
                    </a:p>
                  </a:txBody>
                  <a:tcPr marL="0" marR="0" marT="0" marB="0" anchor="ctr" anchorCtr="0">
                    <a:lnL>
                      <a:noFill/>
                    </a:lnL>
                    <a:lnR>
                      <a:noFill/>
                    </a:lnR>
                    <a:lnT>
                      <a:noFill/>
                    </a:lnT>
                    <a:lnB>
                      <a:noFill/>
                    </a:lnB>
                    <a:noFill/>
                  </a:tcPr>
                </a:tc>
              </a:tr>
              <a:tr h="282575">
                <a:tc>
                  <a:txBody>
                    <a:bodyPr/>
                    <a:p>
                      <a:r>
                        <a:rPr sz="1600"/>
                        <a:t>H1</a:t>
                      </a:r>
                      <a:endParaRPr sz="1600"/>
                    </a:p>
                  </a:txBody>
                  <a:tcPr marL="0" marR="0" marT="0" marB="0" anchor="ctr" anchorCtr="0">
                    <a:lnL>
                      <a:noFill/>
                    </a:lnL>
                    <a:lnR>
                      <a:noFill/>
                    </a:lnR>
                    <a:lnT>
                      <a:noFill/>
                    </a:lnT>
                    <a:lnB>
                      <a:noFill/>
                    </a:lnB>
                    <a:noFill/>
                  </a:tcPr>
                </a:tc>
                <a:tc>
                  <a:txBody>
                    <a:bodyPr/>
                    <a:p>
                      <a:r>
                        <a:rPr sz="1600"/>
                        <a:t>200 KB</a:t>
                      </a:r>
                      <a:endParaRPr sz="1600"/>
                    </a:p>
                  </a:txBody>
                  <a:tcPr marL="0" marR="0" marT="0" marB="0" anchor="ctr" anchorCtr="0">
                    <a:lnL>
                      <a:noFill/>
                    </a:lnL>
                    <a:lnR>
                      <a:noFill/>
                    </a:lnR>
                    <a:lnT>
                      <a:noFill/>
                    </a:lnT>
                    <a:lnB>
                      <a:noFill/>
                    </a:lnB>
                    <a:noFill/>
                  </a:tcPr>
                </a:tc>
              </a:tr>
              <a:tr h="282575">
                <a:tc>
                  <a:txBody>
                    <a:bodyPr/>
                    <a:p>
                      <a:r>
                        <a:rPr sz="1600"/>
                        <a:t>H2</a:t>
                      </a:r>
                      <a:endParaRPr sz="1600"/>
                    </a:p>
                  </a:txBody>
                  <a:tcPr marL="0" marR="0" marT="0" marB="0" anchor="ctr" anchorCtr="0">
                    <a:lnL>
                      <a:noFill/>
                    </a:lnL>
                    <a:lnR>
                      <a:noFill/>
                    </a:lnR>
                    <a:lnT>
                      <a:noFill/>
                    </a:lnT>
                    <a:lnB>
                      <a:noFill/>
                    </a:lnB>
                    <a:noFill/>
                  </a:tcPr>
                </a:tc>
                <a:tc>
                  <a:txBody>
                    <a:bodyPr/>
                    <a:p>
                      <a:r>
                        <a:rPr sz="1600"/>
                        <a:t>400 KB</a:t>
                      </a:r>
                      <a:endParaRPr sz="1600"/>
                    </a:p>
                  </a:txBody>
                  <a:tcPr marL="0" marR="0" marT="0" marB="0" anchor="ctr" anchorCtr="0">
                    <a:lnL>
                      <a:noFill/>
                    </a:lnL>
                    <a:lnR>
                      <a:noFill/>
                    </a:lnR>
                    <a:lnT>
                      <a:noFill/>
                    </a:lnT>
                    <a:lnB>
                      <a:noFill/>
                    </a:lnB>
                    <a:noFill/>
                  </a:tcPr>
                </a:tc>
              </a:tr>
              <a:tr h="282575">
                <a:tc>
                  <a:txBody>
                    <a:bodyPr/>
                    <a:p>
                      <a:r>
                        <a:rPr sz="1600"/>
                        <a:t>H3</a:t>
                      </a:r>
                      <a:endParaRPr sz="1600"/>
                    </a:p>
                  </a:txBody>
                  <a:tcPr marL="0" marR="0" marT="0" marB="0" anchor="ctr" anchorCtr="0">
                    <a:lnL>
                      <a:noFill/>
                    </a:lnL>
                    <a:lnR>
                      <a:noFill/>
                    </a:lnR>
                    <a:lnT>
                      <a:noFill/>
                    </a:lnT>
                    <a:lnB>
                      <a:noFill/>
                    </a:lnB>
                    <a:noFill/>
                  </a:tcPr>
                </a:tc>
                <a:tc>
                  <a:txBody>
                    <a:bodyPr/>
                    <a:p>
                      <a:r>
                        <a:rPr sz="1600"/>
                        <a:t>600 KB</a:t>
                      </a:r>
                      <a:endParaRPr sz="1600"/>
                    </a:p>
                  </a:txBody>
                  <a:tcPr marL="0" marR="0" marT="0" marB="0" anchor="ctr" anchorCtr="0">
                    <a:lnL>
                      <a:noFill/>
                    </a:lnL>
                    <a:lnR>
                      <a:noFill/>
                    </a:lnR>
                    <a:lnT>
                      <a:noFill/>
                    </a:lnT>
                    <a:lnB>
                      <a:noFill/>
                    </a:lnB>
                    <a:noFill/>
                  </a:tcPr>
                </a:tc>
              </a:tr>
              <a:tr h="282575">
                <a:tc>
                  <a:txBody>
                    <a:bodyPr/>
                    <a:p>
                      <a:r>
                        <a:rPr sz="1600"/>
                        <a:t>H4</a:t>
                      </a:r>
                      <a:endParaRPr sz="1600"/>
                    </a:p>
                  </a:txBody>
                  <a:tcPr marL="0" marR="0" marT="0" marB="0" anchor="ctr" anchorCtr="0">
                    <a:lnL>
                      <a:noFill/>
                    </a:lnL>
                    <a:lnR>
                      <a:noFill/>
                    </a:lnR>
                    <a:lnT>
                      <a:noFill/>
                    </a:lnT>
                    <a:lnB>
                      <a:noFill/>
                    </a:lnB>
                    <a:noFill/>
                  </a:tcPr>
                </a:tc>
                <a:tc>
                  <a:txBody>
                    <a:bodyPr/>
                    <a:p>
                      <a:r>
                        <a:rPr sz="1600"/>
                        <a:t>500 KB</a:t>
                      </a:r>
                      <a:endParaRPr sz="1600"/>
                    </a:p>
                  </a:txBody>
                  <a:tcPr marL="0" marR="0" marT="0" marB="0" anchor="ctr" anchorCtr="0">
                    <a:lnL>
                      <a:noFill/>
                    </a:lnL>
                    <a:lnR>
                      <a:noFill/>
                    </a:lnR>
                    <a:lnT>
                      <a:noFill/>
                    </a:lnT>
                    <a:lnB>
                      <a:noFill/>
                    </a:lnB>
                    <a:noFill/>
                  </a:tcPr>
                </a:tc>
              </a:tr>
              <a:tr h="282575">
                <a:tc>
                  <a:txBody>
                    <a:bodyPr/>
                    <a:p>
                      <a:r>
                        <a:rPr sz="1600"/>
                        <a:t>H5</a:t>
                      </a:r>
                      <a:endParaRPr sz="1600"/>
                    </a:p>
                  </a:txBody>
                  <a:tcPr marL="0" marR="0" marT="0" marB="0" anchor="ctr" anchorCtr="0">
                    <a:lnL>
                      <a:noFill/>
                    </a:lnL>
                    <a:lnR>
                      <a:noFill/>
                    </a:lnR>
                    <a:lnT>
                      <a:noFill/>
                    </a:lnT>
                    <a:lnB>
                      <a:noFill/>
                    </a:lnB>
                    <a:noFill/>
                  </a:tcPr>
                </a:tc>
                <a:tc>
                  <a:txBody>
                    <a:bodyPr/>
                    <a:p>
                      <a:r>
                        <a:rPr sz="1600"/>
                        <a:t>300 KB</a:t>
                      </a:r>
                      <a:endParaRPr sz="1600"/>
                    </a:p>
                  </a:txBody>
                  <a:tcPr marL="0" marR="0" marT="0" marB="0" anchor="ctr" anchorCtr="0">
                    <a:lnL>
                      <a:noFill/>
                    </a:lnL>
                    <a:lnR>
                      <a:noFill/>
                    </a:lnR>
                    <a:lnT>
                      <a:noFill/>
                    </a:lnT>
                    <a:lnB>
                      <a:noFill/>
                    </a:lnB>
                    <a:noFill/>
                  </a:tcPr>
                </a:tc>
              </a:tr>
              <a:tr h="282575">
                <a:tc>
                  <a:txBody>
                    <a:bodyPr/>
                    <a:p>
                      <a:r>
                        <a:rPr sz="1600"/>
                        <a:t>H6</a:t>
                      </a:r>
                      <a:endParaRPr sz="1600"/>
                    </a:p>
                  </a:txBody>
                  <a:tcPr marL="0" marR="0" marT="0" marB="0" anchor="ctr" anchorCtr="0">
                    <a:lnL>
                      <a:noFill/>
                    </a:lnL>
                    <a:lnR>
                      <a:noFill/>
                    </a:lnR>
                    <a:lnT>
                      <a:noFill/>
                    </a:lnT>
                    <a:lnB>
                      <a:noFill/>
                    </a:lnB>
                    <a:noFill/>
                  </a:tcPr>
                </a:tc>
                <a:tc>
                  <a:txBody>
                    <a:bodyPr/>
                    <a:p>
                      <a:r>
                        <a:rPr sz="1600"/>
                        <a:t>250 KB</a:t>
                      </a:r>
                      <a:endParaRPr sz="16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2406015" y="3775075"/>
            <a:ext cx="6229985" cy="937260"/>
          </a:xfrm>
          <a:prstGeom prst="rect">
            <a:avLst/>
          </a:prstGeom>
        </p:spPr>
        <p:txBody>
          <a:bodyPr>
            <a:noAutofit/>
          </a:bodyPr>
          <a:p>
            <a:endParaRPr sz="2600"/>
          </a:p>
          <a:p>
            <a:r>
              <a:rPr sz="1600"/>
              <a:t>Processes must be allocated in this order:</a:t>
            </a:r>
            <a:endParaRPr sz="1600"/>
          </a:p>
        </p:txBody>
      </p:sp>
      <p:graphicFrame>
        <p:nvGraphicFramePr>
          <p:cNvPr id="7" name="Table 6"/>
          <p:cNvGraphicFramePr/>
          <p:nvPr/>
        </p:nvGraphicFramePr>
        <p:xfrm>
          <a:off x="495300" y="4496435"/>
          <a:ext cx="10872470" cy="1235075"/>
        </p:xfrm>
        <a:graphic>
          <a:graphicData uri="http://schemas.openxmlformats.org/drawingml/2006/table">
            <a:tbl>
              <a:tblPr/>
              <a:tblGrid>
                <a:gridCol w="5436235"/>
                <a:gridCol w="5436235"/>
              </a:tblGrid>
              <a:tr h="247015">
                <a:tc>
                  <a:txBody>
                    <a:bodyPr/>
                    <a:p>
                      <a:r>
                        <a:rPr sz="1600"/>
                        <a:t>Process</a:t>
                      </a:r>
                      <a:endParaRPr sz="1600"/>
                    </a:p>
                  </a:txBody>
                  <a:tcPr marL="0" marR="0" marT="0" marB="0" anchor="ctr" anchorCtr="0">
                    <a:lnL>
                      <a:noFill/>
                    </a:lnL>
                    <a:lnR>
                      <a:noFill/>
                    </a:lnR>
                    <a:lnT>
                      <a:noFill/>
                    </a:lnT>
                    <a:lnB>
                      <a:noFill/>
                    </a:lnB>
                    <a:noFill/>
                  </a:tcPr>
                </a:tc>
                <a:tc>
                  <a:txBody>
                    <a:bodyPr/>
                    <a:p>
                      <a:r>
                        <a:rPr sz="1600"/>
                        <a:t>Size</a:t>
                      </a:r>
                      <a:endParaRPr sz="1600"/>
                    </a:p>
                  </a:txBody>
                  <a:tcPr marL="0" marR="0" marT="0" marB="0" anchor="ctr" anchorCtr="0">
                    <a:lnL>
                      <a:noFill/>
                    </a:lnL>
                    <a:lnR>
                      <a:noFill/>
                    </a:lnR>
                    <a:lnT>
                      <a:noFill/>
                    </a:lnT>
                    <a:lnB>
                      <a:noFill/>
                    </a:lnB>
                    <a:noFill/>
                  </a:tcPr>
                </a:tc>
              </a:tr>
              <a:tr h="247015">
                <a:tc>
                  <a:txBody>
                    <a:bodyPr/>
                    <a:p>
                      <a:r>
                        <a:rPr sz="1600"/>
                        <a:t>P1</a:t>
                      </a:r>
                      <a:endParaRPr sz="1600"/>
                    </a:p>
                  </a:txBody>
                  <a:tcPr marL="0" marR="0" marT="0" marB="0" anchor="ctr" anchorCtr="0">
                    <a:lnL>
                      <a:noFill/>
                    </a:lnL>
                    <a:lnR>
                      <a:noFill/>
                    </a:lnR>
                    <a:lnT>
                      <a:noFill/>
                    </a:lnT>
                    <a:lnB>
                      <a:noFill/>
                    </a:lnB>
                    <a:noFill/>
                  </a:tcPr>
                </a:tc>
                <a:tc>
                  <a:txBody>
                    <a:bodyPr/>
                    <a:p>
                      <a:r>
                        <a:rPr sz="1600"/>
                        <a:t>357 </a:t>
                      </a:r>
                      <a:r>
                        <a:rPr sz="1600"/>
                        <a:t>KB</a:t>
                      </a:r>
                      <a:endParaRPr sz="1600"/>
                    </a:p>
                  </a:txBody>
                  <a:tcPr marL="0" marR="0" marT="0" marB="0" anchor="ctr" anchorCtr="0">
                    <a:lnL>
                      <a:noFill/>
                    </a:lnL>
                    <a:lnR>
                      <a:noFill/>
                    </a:lnR>
                    <a:lnT>
                      <a:noFill/>
                    </a:lnT>
                    <a:lnB>
                      <a:noFill/>
                    </a:lnB>
                    <a:noFill/>
                  </a:tcPr>
                </a:tc>
              </a:tr>
              <a:tr h="247015">
                <a:tc>
                  <a:txBody>
                    <a:bodyPr/>
                    <a:p>
                      <a:r>
                        <a:rPr sz="1600"/>
                        <a:t>P2</a:t>
                      </a:r>
                      <a:endParaRPr sz="1600"/>
                    </a:p>
                  </a:txBody>
                  <a:tcPr marL="0" marR="0" marT="0" marB="0" anchor="ctr" anchorCtr="0">
                    <a:lnL>
                      <a:noFill/>
                    </a:lnL>
                    <a:lnR>
                      <a:noFill/>
                    </a:lnR>
                    <a:lnT>
                      <a:noFill/>
                    </a:lnT>
                    <a:lnB>
                      <a:noFill/>
                    </a:lnB>
                    <a:noFill/>
                  </a:tcPr>
                </a:tc>
                <a:tc>
                  <a:txBody>
                    <a:bodyPr/>
                    <a:p>
                      <a:r>
                        <a:rPr sz="1600"/>
                        <a:t>210 </a:t>
                      </a:r>
                      <a:r>
                        <a:rPr sz="1600"/>
                        <a:t>KB</a:t>
                      </a:r>
                      <a:endParaRPr sz="1600"/>
                    </a:p>
                  </a:txBody>
                  <a:tcPr marL="0" marR="0" marT="0" marB="0" anchor="ctr" anchorCtr="0">
                    <a:lnL>
                      <a:noFill/>
                    </a:lnL>
                    <a:lnR>
                      <a:noFill/>
                    </a:lnR>
                    <a:lnT>
                      <a:noFill/>
                    </a:lnT>
                    <a:lnB>
                      <a:noFill/>
                    </a:lnB>
                    <a:noFill/>
                  </a:tcPr>
                </a:tc>
              </a:tr>
              <a:tr h="247015">
                <a:tc>
                  <a:txBody>
                    <a:bodyPr/>
                    <a:p>
                      <a:r>
                        <a:rPr sz="1600"/>
                        <a:t>P3</a:t>
                      </a:r>
                      <a:endParaRPr sz="1600"/>
                    </a:p>
                  </a:txBody>
                  <a:tcPr marL="0" marR="0" marT="0" marB="0" anchor="ctr" anchorCtr="0">
                    <a:lnL>
                      <a:noFill/>
                    </a:lnL>
                    <a:lnR>
                      <a:noFill/>
                    </a:lnR>
                    <a:lnT>
                      <a:noFill/>
                    </a:lnT>
                    <a:lnB>
                      <a:noFill/>
                    </a:lnB>
                    <a:noFill/>
                  </a:tcPr>
                </a:tc>
                <a:tc>
                  <a:txBody>
                    <a:bodyPr/>
                    <a:p>
                      <a:r>
                        <a:rPr sz="1600"/>
                        <a:t>468 </a:t>
                      </a:r>
                      <a:r>
                        <a:rPr sz="1600"/>
                        <a:t>KB</a:t>
                      </a:r>
                      <a:endParaRPr sz="1600"/>
                    </a:p>
                  </a:txBody>
                  <a:tcPr marL="0" marR="0" marT="0" marB="0" anchor="ctr" anchorCtr="0">
                    <a:lnL>
                      <a:noFill/>
                    </a:lnL>
                    <a:lnR>
                      <a:noFill/>
                    </a:lnR>
                    <a:lnT>
                      <a:noFill/>
                    </a:lnT>
                    <a:lnB>
                      <a:noFill/>
                    </a:lnB>
                    <a:noFill/>
                  </a:tcPr>
                </a:tc>
              </a:tr>
              <a:tr h="247015">
                <a:tc>
                  <a:txBody>
                    <a:bodyPr/>
                    <a:p>
                      <a:r>
                        <a:rPr sz="1600"/>
                        <a:t>P4</a:t>
                      </a:r>
                      <a:endParaRPr sz="1600"/>
                    </a:p>
                  </a:txBody>
                  <a:tcPr marL="0" marR="0" marT="0" marB="0" anchor="ctr" anchorCtr="0">
                    <a:lnL>
                      <a:noFill/>
                    </a:lnL>
                    <a:lnR>
                      <a:noFill/>
                    </a:lnR>
                    <a:lnT>
                      <a:noFill/>
                    </a:lnT>
                    <a:lnB>
                      <a:noFill/>
                    </a:lnB>
                    <a:noFill/>
                  </a:tcPr>
                </a:tc>
                <a:tc>
                  <a:txBody>
                    <a:bodyPr/>
                    <a:p>
                      <a:r>
                        <a:rPr sz="1600"/>
                        <a:t>491 </a:t>
                      </a:r>
                      <a:r>
                        <a:rPr sz="1600"/>
                        <a:t>KB</a:t>
                      </a:r>
                      <a:endParaRPr sz="1600"/>
                    </a:p>
                  </a:txBody>
                  <a:tcPr marL="0" marR="0" marT="0" marB="0" anchor="ctr" anchorCtr="0">
                    <a:lnL>
                      <a:noFill/>
                    </a:lnL>
                    <a:lnR>
                      <a:noFill/>
                    </a:lnR>
                    <a:lnT>
                      <a:noFill/>
                    </a:lnT>
                    <a:lnB>
                      <a:noFill/>
                    </a:lnB>
                    <a:noFill/>
                  </a:tcPr>
                </a:tc>
              </a:tr>
            </a:tbl>
          </a:graphicData>
        </a:graphic>
      </p:graphicFrame>
      <p:sp>
        <p:nvSpPr>
          <p:cNvPr id="8" name="Text Box 7"/>
          <p:cNvSpPr txBox="1"/>
          <p:nvPr/>
        </p:nvSpPr>
        <p:spPr>
          <a:xfrm>
            <a:off x="495935" y="5350510"/>
            <a:ext cx="10448290" cy="2503170"/>
          </a:xfrm>
          <a:prstGeom prst="rect">
            <a:avLst/>
          </a:prstGeom>
        </p:spPr>
        <p:txBody>
          <a:bodyPr>
            <a:noAutofit/>
          </a:bodyPr>
          <a:p>
            <a:endParaRPr sz="2600"/>
          </a:p>
          <a:p>
            <a:r>
              <a:rPr sz="1600"/>
              <a:t>Important rule:Once a process is allocated to a hole, the remaining space in that hole becomes a smaller available hole.</a:t>
            </a:r>
            <a:endParaRPr sz="1600"/>
          </a:p>
          <a:p>
            <a:r>
              <a:rPr sz="1600"/>
              <a:t>For example, if a 357 KB process is allocated to a 400 KB hole, the remaining hole is:</a:t>
            </a:r>
            <a:endParaRPr sz="1600"/>
          </a:p>
          <a:p>
            <a:r>
              <a:rPr sz="1600"/>
              <a:t>400-357=43 KB</a:t>
            </a:r>
            <a:endParaRPr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57835" y="252730"/>
            <a:ext cx="11734165" cy="5398770"/>
          </a:xfrm>
          <a:prstGeom prst="rect">
            <a:avLst/>
          </a:prstGeom>
        </p:spPr>
        <p:txBody>
          <a:bodyPr wrap="square">
            <a:noAutofit/>
          </a:bodyPr>
          <a:p>
            <a:pPr>
              <a:spcAft>
                <a:spcPct val="60000"/>
              </a:spcAft>
            </a:pPr>
            <a:r>
              <a:rPr sz="2300" b="1"/>
              <a:t>1. First Fit Algorithm</a:t>
            </a:r>
            <a:endParaRPr sz="2300" b="1"/>
          </a:p>
          <a:p>
            <a:r>
              <a:rPr sz="1600"/>
              <a:t>Rule:Allocate each process to the first available hole that is large enough, scanning from the beginning.</a:t>
            </a:r>
            <a:endParaRPr sz="1600"/>
          </a:p>
          <a:p>
            <a:r>
              <a:rPr sz="1600"/>
              <a:t>Step 1: Allocate P1 = 357 KB</a:t>
            </a:r>
            <a:endParaRPr sz="1600"/>
          </a:p>
          <a:p>
            <a:r>
              <a:rPr sz="1600"/>
              <a:t>Hole 400 KB is the first suitable hole.</a:t>
            </a:r>
            <a:endParaRPr sz="1600"/>
          </a:p>
          <a:p>
            <a:r>
              <a:rPr sz="1600"/>
              <a:t>400-357=43KB</a:t>
            </a:r>
            <a:endParaRPr sz="1600"/>
          </a:p>
          <a:p>
            <a:endParaRPr sz="1600"/>
          </a:p>
          <a:p>
            <a:r>
              <a:rPr sz="1600"/>
              <a:t>Step 2: Allocate P2 = 210 KB</a:t>
            </a:r>
            <a:endParaRPr sz="1600"/>
          </a:p>
          <a:p>
            <a:r>
              <a:rPr sz="1600"/>
              <a:t>The first suitable remaining hole is 600 KB.</a:t>
            </a:r>
            <a:endParaRPr sz="1600"/>
          </a:p>
          <a:p>
            <a:r>
              <a:rPr sz="1600"/>
              <a:t>600-210=390 KB</a:t>
            </a:r>
            <a:endParaRPr sz="1600"/>
          </a:p>
          <a:p>
            <a:endParaRPr sz="1600"/>
          </a:p>
          <a:p>
            <a:r>
              <a:rPr sz="1600"/>
              <a:t>Step 3: Allocate P3 = 468 KB</a:t>
            </a:r>
            <a:endParaRPr sz="1600"/>
          </a:p>
          <a:p>
            <a:r>
              <a:rPr sz="1600"/>
              <a:t>The first suitable remaining hole is 500 KB.</a:t>
            </a:r>
            <a:endParaRPr sz="1600"/>
          </a:p>
          <a:p>
            <a:r>
              <a:rPr sz="1600"/>
              <a:t>500-468=32KB</a:t>
            </a:r>
            <a:endParaRPr sz="1600"/>
          </a:p>
          <a:p>
            <a:r>
              <a:rPr sz="1600"/>
              <a:t>Step 4: Allocate P4 = 491 KB</a:t>
            </a:r>
            <a:endParaRPr sz="1600"/>
          </a:p>
          <a:p>
            <a:r>
              <a:rPr sz="1600"/>
              <a:t>No remaining hole is large enough. The largest remaining hole is 390 KB.</a:t>
            </a:r>
            <a:endParaRPr sz="1600"/>
          </a:p>
        </p:txBody>
      </p:sp>
      <p:graphicFrame>
        <p:nvGraphicFramePr>
          <p:cNvPr id="5" name="Table 4"/>
          <p:cNvGraphicFramePr/>
          <p:nvPr/>
        </p:nvGraphicFramePr>
        <p:xfrm>
          <a:off x="456565" y="4477385"/>
          <a:ext cx="10778490" cy="1457325"/>
        </p:xfrm>
        <a:graphic>
          <a:graphicData uri="http://schemas.openxmlformats.org/drawingml/2006/table">
            <a:tbl>
              <a:tblPr/>
              <a:tblGrid>
                <a:gridCol w="3592830"/>
                <a:gridCol w="3592830"/>
                <a:gridCol w="3592830"/>
              </a:tblGrid>
              <a:tr h="291465">
                <a:tc>
                  <a:txBody>
                    <a:bodyPr/>
                    <a:p>
                      <a:r>
                        <a:rPr sz="1400"/>
                        <a:t>Process</a:t>
                      </a:r>
                      <a:endParaRPr sz="1400"/>
                    </a:p>
                  </a:txBody>
                  <a:tcPr marL="0" marR="0" marT="0" marB="0" anchor="ctr" anchorCtr="0">
                    <a:lnL>
                      <a:noFill/>
                    </a:lnL>
                    <a:lnR>
                      <a:noFill/>
                    </a:lnR>
                    <a:lnT>
                      <a:noFill/>
                    </a:lnT>
                    <a:lnB>
                      <a:noFill/>
                    </a:lnB>
                    <a:noFill/>
                  </a:tcPr>
                </a:tc>
                <a:tc>
                  <a:txBody>
                    <a:bodyPr/>
                    <a:p>
                      <a:r>
                        <a:rPr sz="1400"/>
                        <a:t>Allocated </a:t>
                      </a:r>
                      <a:r>
                        <a:rPr sz="1400"/>
                        <a:t>hole</a:t>
                      </a:r>
                      <a:endParaRPr sz="1400"/>
                    </a:p>
                  </a:txBody>
                  <a:tcPr marL="0" marR="0" marT="0" marB="0" anchor="ctr" anchorCtr="0">
                    <a:lnL>
                      <a:noFill/>
                    </a:lnL>
                    <a:lnR>
                      <a:noFill/>
                    </a:lnR>
                    <a:lnT>
                      <a:noFill/>
                    </a:lnT>
                    <a:lnB>
                      <a:noFill/>
                    </a:lnB>
                    <a:noFill/>
                  </a:tcPr>
                </a:tc>
                <a:tc>
                  <a:txBody>
                    <a:bodyPr/>
                    <a:p>
                      <a:r>
                        <a:rPr sz="1100"/>
                        <a:t>Remaining </a:t>
                      </a:r>
                      <a:r>
                        <a:rPr sz="1100"/>
                        <a:t>space</a:t>
                      </a:r>
                      <a:endParaRPr sz="1100"/>
                    </a:p>
                  </a:txBody>
                  <a:tcPr marL="0" marR="0" marT="0" marB="0" anchor="ctr" anchorCtr="0">
                    <a:lnL>
                      <a:noFill/>
                    </a:lnL>
                    <a:lnR>
                      <a:noFill/>
                    </a:lnR>
                    <a:lnT>
                      <a:noFill/>
                    </a:lnT>
                    <a:lnB>
                      <a:noFill/>
                    </a:lnB>
                    <a:noFill/>
                  </a:tcPr>
                </a:tc>
              </a:tr>
              <a:tr h="291465">
                <a:tc>
                  <a:txBody>
                    <a:bodyPr/>
                    <a:p>
                      <a:r>
                        <a:rPr sz="1400"/>
                        <a:t>P1 (357 </a:t>
                      </a:r>
                      <a:r>
                        <a:rPr sz="1400"/>
                        <a:t>KB)</a:t>
                      </a:r>
                      <a:endParaRPr sz="1400"/>
                    </a:p>
                  </a:txBody>
                  <a:tcPr marL="0" marR="0" marT="0" marB="0" anchor="ctr" anchorCtr="0">
                    <a:lnL>
                      <a:noFill/>
                    </a:lnL>
                    <a:lnR>
                      <a:noFill/>
                    </a:lnR>
                    <a:lnT>
                      <a:noFill/>
                    </a:lnT>
                    <a:lnB>
                      <a:noFill/>
                    </a:lnB>
                    <a:noFill/>
                  </a:tcPr>
                </a:tc>
                <a:tc>
                  <a:txBody>
                    <a:bodyPr/>
                    <a:p>
                      <a:r>
                        <a:rPr sz="1400"/>
                        <a:t>400 </a:t>
                      </a:r>
                      <a:r>
                        <a:rPr sz="1400"/>
                        <a:t>KB</a:t>
                      </a:r>
                      <a:endParaRPr sz="1400"/>
                    </a:p>
                  </a:txBody>
                  <a:tcPr marL="0" marR="0" marT="0" marB="0" anchor="ctr" anchorCtr="0">
                    <a:lnL>
                      <a:noFill/>
                    </a:lnL>
                    <a:lnR>
                      <a:noFill/>
                    </a:lnR>
                    <a:lnT>
                      <a:noFill/>
                    </a:lnT>
                    <a:lnB>
                      <a:noFill/>
                    </a:lnB>
                    <a:noFill/>
                  </a:tcPr>
                </a:tc>
                <a:tc>
                  <a:txBody>
                    <a:bodyPr/>
                    <a:p>
                      <a:r>
                        <a:rPr sz="1100"/>
                        <a:t>43 </a:t>
                      </a:r>
                      <a:r>
                        <a:rPr sz="1100"/>
                        <a:t>KB</a:t>
                      </a:r>
                      <a:endParaRPr sz="1100"/>
                    </a:p>
                  </a:txBody>
                  <a:tcPr marL="0" marR="0" marT="0" marB="0" anchor="ctr" anchorCtr="0">
                    <a:lnL>
                      <a:noFill/>
                    </a:lnL>
                    <a:lnR>
                      <a:noFill/>
                    </a:lnR>
                    <a:lnT>
                      <a:noFill/>
                    </a:lnT>
                    <a:lnB>
                      <a:noFill/>
                    </a:lnB>
                    <a:noFill/>
                  </a:tcPr>
                </a:tc>
              </a:tr>
              <a:tr h="291465">
                <a:tc>
                  <a:txBody>
                    <a:bodyPr/>
                    <a:p>
                      <a:r>
                        <a:rPr sz="1400"/>
                        <a:t>P2 (210 </a:t>
                      </a:r>
                      <a:r>
                        <a:rPr sz="1400"/>
                        <a:t>KB)</a:t>
                      </a:r>
                      <a:endParaRPr sz="1400"/>
                    </a:p>
                  </a:txBody>
                  <a:tcPr marL="0" marR="0" marT="0" marB="0" anchor="ctr" anchorCtr="0">
                    <a:lnL>
                      <a:noFill/>
                    </a:lnL>
                    <a:lnR>
                      <a:noFill/>
                    </a:lnR>
                    <a:lnT>
                      <a:noFill/>
                    </a:lnT>
                    <a:lnB>
                      <a:noFill/>
                    </a:lnB>
                    <a:noFill/>
                  </a:tcPr>
                </a:tc>
                <a:tc>
                  <a:txBody>
                    <a:bodyPr/>
                    <a:p>
                      <a:r>
                        <a:rPr sz="1400"/>
                        <a:t>600 </a:t>
                      </a:r>
                      <a:r>
                        <a:rPr sz="1400"/>
                        <a:t>KB</a:t>
                      </a:r>
                      <a:endParaRPr sz="1400"/>
                    </a:p>
                  </a:txBody>
                  <a:tcPr marL="0" marR="0" marT="0" marB="0" anchor="ctr" anchorCtr="0">
                    <a:lnL>
                      <a:noFill/>
                    </a:lnL>
                    <a:lnR>
                      <a:noFill/>
                    </a:lnR>
                    <a:lnT>
                      <a:noFill/>
                    </a:lnT>
                    <a:lnB>
                      <a:noFill/>
                    </a:lnB>
                    <a:noFill/>
                  </a:tcPr>
                </a:tc>
                <a:tc>
                  <a:txBody>
                    <a:bodyPr/>
                    <a:p>
                      <a:r>
                        <a:rPr sz="1100"/>
                        <a:t>390 </a:t>
                      </a:r>
                      <a:r>
                        <a:rPr sz="1100"/>
                        <a:t>KB</a:t>
                      </a:r>
                      <a:endParaRPr sz="1100"/>
                    </a:p>
                  </a:txBody>
                  <a:tcPr marL="0" marR="0" marT="0" marB="0" anchor="ctr" anchorCtr="0">
                    <a:lnL>
                      <a:noFill/>
                    </a:lnL>
                    <a:lnR>
                      <a:noFill/>
                    </a:lnR>
                    <a:lnT>
                      <a:noFill/>
                    </a:lnT>
                    <a:lnB>
                      <a:noFill/>
                    </a:lnB>
                    <a:noFill/>
                  </a:tcPr>
                </a:tc>
              </a:tr>
              <a:tr h="291465">
                <a:tc>
                  <a:txBody>
                    <a:bodyPr/>
                    <a:p>
                      <a:r>
                        <a:rPr sz="1400"/>
                        <a:t>P3 (468 </a:t>
                      </a:r>
                      <a:r>
                        <a:rPr sz="1400"/>
                        <a:t>KB)</a:t>
                      </a:r>
                      <a:endParaRPr sz="1400"/>
                    </a:p>
                  </a:txBody>
                  <a:tcPr marL="0" marR="0" marT="0" marB="0" anchor="ctr" anchorCtr="0">
                    <a:lnL>
                      <a:noFill/>
                    </a:lnL>
                    <a:lnR>
                      <a:noFill/>
                    </a:lnR>
                    <a:lnT>
                      <a:noFill/>
                    </a:lnT>
                    <a:lnB>
                      <a:noFill/>
                    </a:lnB>
                    <a:noFill/>
                  </a:tcPr>
                </a:tc>
                <a:tc>
                  <a:txBody>
                    <a:bodyPr/>
                    <a:p>
                      <a:r>
                        <a:rPr sz="1400"/>
                        <a:t>500 </a:t>
                      </a:r>
                      <a:r>
                        <a:rPr sz="1400"/>
                        <a:t>KB</a:t>
                      </a:r>
                      <a:endParaRPr sz="1400"/>
                    </a:p>
                  </a:txBody>
                  <a:tcPr marL="0" marR="0" marT="0" marB="0" anchor="ctr" anchorCtr="0">
                    <a:lnL>
                      <a:noFill/>
                    </a:lnL>
                    <a:lnR>
                      <a:noFill/>
                    </a:lnR>
                    <a:lnT>
                      <a:noFill/>
                    </a:lnT>
                    <a:lnB>
                      <a:noFill/>
                    </a:lnB>
                    <a:noFill/>
                  </a:tcPr>
                </a:tc>
                <a:tc>
                  <a:txBody>
                    <a:bodyPr/>
                    <a:p>
                      <a:r>
                        <a:rPr sz="1100"/>
                        <a:t>32 </a:t>
                      </a:r>
                      <a:r>
                        <a:rPr sz="1100"/>
                        <a:t>KB</a:t>
                      </a:r>
                      <a:endParaRPr sz="1100"/>
                    </a:p>
                  </a:txBody>
                  <a:tcPr marL="0" marR="0" marT="0" marB="0" anchor="ctr" anchorCtr="0">
                    <a:lnL>
                      <a:noFill/>
                    </a:lnL>
                    <a:lnR>
                      <a:noFill/>
                    </a:lnR>
                    <a:lnT>
                      <a:noFill/>
                    </a:lnT>
                    <a:lnB>
                      <a:noFill/>
                    </a:lnB>
                    <a:noFill/>
                  </a:tcPr>
                </a:tc>
              </a:tr>
              <a:tr h="291465">
                <a:tc>
                  <a:txBody>
                    <a:bodyPr/>
                    <a:p>
                      <a:r>
                        <a:rPr sz="1400"/>
                        <a:t>P4 (491 </a:t>
                      </a:r>
                      <a:r>
                        <a:rPr sz="1400"/>
                        <a:t>KB)</a:t>
                      </a:r>
                      <a:endParaRPr sz="1400"/>
                    </a:p>
                  </a:txBody>
                  <a:tcPr marL="0" marR="0" marT="0" marB="0" anchor="ctr" anchorCtr="0">
                    <a:lnL>
                      <a:noFill/>
                    </a:lnL>
                    <a:lnR>
                      <a:noFill/>
                    </a:lnR>
                    <a:lnT>
                      <a:noFill/>
                    </a:lnT>
                    <a:lnB>
                      <a:noFill/>
                    </a:lnB>
                    <a:noFill/>
                  </a:tcPr>
                </a:tc>
                <a:tc>
                  <a:txBody>
                    <a:bodyPr/>
                    <a:p>
                      <a:r>
                        <a:rPr sz="1400"/>
                        <a:t>Not </a:t>
                      </a:r>
                      <a:r>
                        <a:rPr sz="1400"/>
                        <a:t>allocated</a:t>
                      </a:r>
                      <a:endParaRPr sz="1400"/>
                    </a:p>
                  </a:txBody>
                  <a:tcPr marL="0" marR="0" marT="0" marB="0" anchor="ctr" anchorCtr="0">
                    <a:lnL>
                      <a:noFill/>
                    </a:lnL>
                    <a:lnR>
                      <a:noFill/>
                    </a:lnR>
                    <a:lnT>
                      <a:noFill/>
                    </a:lnT>
                    <a:lnB>
                      <a:noFill/>
                    </a:lnB>
                    <a:noFill/>
                  </a:tcPr>
                </a:tc>
                <a:tc>
                  <a:txBody>
                    <a:bodyPr/>
                    <a:p>
                      <a:r>
                        <a:rPr sz="1100"/>
                        <a:t>—</a:t>
                      </a:r>
                      <a:endParaRPr sz="11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2245995" y="5771515"/>
            <a:ext cx="8312785" cy="900430"/>
          </a:xfrm>
          <a:prstGeom prst="rect">
            <a:avLst/>
          </a:prstGeom>
        </p:spPr>
        <p:txBody>
          <a:bodyPr wrap="square">
            <a:noAutofit/>
          </a:bodyPr>
          <a:p>
            <a:endParaRPr sz="2600"/>
          </a:p>
          <a:p>
            <a:r>
              <a:rPr sz="1600"/>
              <a:t>Result:3 out of 4 processes allocated.</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31495" y="431800"/>
            <a:ext cx="11327765" cy="3925570"/>
          </a:xfrm>
          <a:prstGeom prst="rect">
            <a:avLst/>
          </a:prstGeom>
        </p:spPr>
        <p:txBody>
          <a:bodyPr wrap="square">
            <a:spAutoFit/>
          </a:bodyPr>
          <a:p>
            <a:pPr>
              <a:spcAft>
                <a:spcPct val="60000"/>
              </a:spcAft>
            </a:pPr>
            <a:r>
              <a:rPr sz="2300" b="1"/>
              <a:t>2. Best Fit Algorithm</a:t>
            </a:r>
            <a:endParaRPr sz="2300" b="1"/>
          </a:p>
          <a:p>
            <a:r>
              <a:rPr sz="1600"/>
              <a:t>Rule:Allocate each process to the smallest available hole that is large enough.</a:t>
            </a:r>
            <a:endParaRPr sz="1600"/>
          </a:p>
          <a:p>
            <a:r>
              <a:rPr sz="1600"/>
              <a:t>Step 1: Allocate P1 = 357 KB</a:t>
            </a:r>
            <a:endParaRPr sz="1600"/>
          </a:p>
          <a:p>
            <a:r>
              <a:rPr sz="1600"/>
              <a:t>The smallest suitable hole is 400 KB.</a:t>
            </a:r>
            <a:endParaRPr sz="1600"/>
          </a:p>
          <a:p>
            <a:r>
              <a:rPr sz="1600"/>
              <a:t>400-357=43KB</a:t>
            </a:r>
            <a:endParaRPr sz="1600"/>
          </a:p>
          <a:p>
            <a:r>
              <a:rPr sz="1600"/>
              <a:t>Step 2: Allocate P2 = 210 KB</a:t>
            </a:r>
            <a:endParaRPr sz="1600"/>
          </a:p>
          <a:p>
            <a:r>
              <a:rPr sz="1600"/>
              <a:t>The smallest suitable hole is 250 KB.</a:t>
            </a:r>
            <a:endParaRPr sz="1600"/>
          </a:p>
          <a:p>
            <a:r>
              <a:rPr sz="1600"/>
              <a:t>250-210=40KB</a:t>
            </a:r>
            <a:endParaRPr sz="1600"/>
          </a:p>
          <a:p>
            <a:r>
              <a:rPr sz="1600"/>
              <a:t>Step 3: Allocate P3 = 468 KB</a:t>
            </a:r>
            <a:endParaRPr sz="1600"/>
          </a:p>
          <a:p>
            <a:r>
              <a:rPr sz="1600"/>
              <a:t>The smallest suitable hole is 500 KB.</a:t>
            </a:r>
            <a:endParaRPr sz="1600"/>
          </a:p>
          <a:p>
            <a:r>
              <a:rPr sz="1600"/>
              <a:t>500-468=32KB</a:t>
            </a:r>
            <a:endParaRPr sz="1600"/>
          </a:p>
          <a:p>
            <a:r>
              <a:rPr sz="1600"/>
              <a:t>Step 4: Allocate P4 = 491 KB</a:t>
            </a:r>
            <a:endParaRPr sz="1600"/>
          </a:p>
          <a:p>
            <a:r>
              <a:rPr sz="1600"/>
              <a:t>The smallest suitable remaining hole is 600 KB.</a:t>
            </a:r>
            <a:endParaRPr sz="1600"/>
          </a:p>
          <a:p>
            <a:r>
              <a:rPr sz="1600"/>
              <a:t>600-491=109KB</a:t>
            </a:r>
            <a:endParaRPr sz="1600"/>
          </a:p>
        </p:txBody>
      </p:sp>
      <p:graphicFrame>
        <p:nvGraphicFramePr>
          <p:cNvPr id="5" name="Table 4"/>
          <p:cNvGraphicFramePr/>
          <p:nvPr/>
        </p:nvGraphicFramePr>
        <p:xfrm>
          <a:off x="755650" y="4537710"/>
          <a:ext cx="6360795" cy="984250"/>
        </p:xfrm>
        <a:graphic>
          <a:graphicData uri="http://schemas.openxmlformats.org/drawingml/2006/table">
            <a:tbl>
              <a:tblPr/>
              <a:tblGrid>
                <a:gridCol w="2120265"/>
                <a:gridCol w="2120265"/>
                <a:gridCol w="2120265"/>
              </a:tblGrid>
              <a:tr h="196850">
                <a:tc>
                  <a:txBody>
                    <a:bodyPr/>
                    <a:p>
                      <a:r>
                        <a:rPr sz="1400"/>
                        <a:t>Process</a:t>
                      </a:r>
                      <a:endParaRPr sz="1400"/>
                    </a:p>
                  </a:txBody>
                  <a:tcPr marL="0" marR="0" marT="0" marB="0" anchor="ctr" anchorCtr="0">
                    <a:lnL>
                      <a:noFill/>
                    </a:lnL>
                    <a:lnR>
                      <a:noFill/>
                    </a:lnR>
                    <a:lnT>
                      <a:noFill/>
                    </a:lnT>
                    <a:lnB>
                      <a:noFill/>
                    </a:lnB>
                    <a:noFill/>
                  </a:tcPr>
                </a:tc>
                <a:tc>
                  <a:txBody>
                    <a:bodyPr/>
                    <a:p>
                      <a:r>
                        <a:rPr sz="1400"/>
                        <a:t>Allocated </a:t>
                      </a:r>
                      <a:r>
                        <a:rPr sz="1400"/>
                        <a:t>hole</a:t>
                      </a:r>
                      <a:endParaRPr sz="1400"/>
                    </a:p>
                  </a:txBody>
                  <a:tcPr marL="0" marR="0" marT="0" marB="0" anchor="ctr" anchorCtr="0">
                    <a:lnL>
                      <a:noFill/>
                    </a:lnL>
                    <a:lnR>
                      <a:noFill/>
                    </a:lnR>
                    <a:lnT>
                      <a:noFill/>
                    </a:lnT>
                    <a:lnB>
                      <a:noFill/>
                    </a:lnB>
                    <a:noFill/>
                  </a:tcPr>
                </a:tc>
                <a:tc>
                  <a:txBody>
                    <a:bodyPr/>
                    <a:p>
                      <a:r>
                        <a:rPr sz="1400"/>
                        <a:t>Remaining </a:t>
                      </a:r>
                      <a:r>
                        <a:rPr sz="1400"/>
                        <a:t>space</a:t>
                      </a:r>
                      <a:endParaRPr sz="1400"/>
                    </a:p>
                  </a:txBody>
                  <a:tcPr marL="0" marR="0" marT="0" marB="0" anchor="ctr" anchorCtr="0">
                    <a:lnL>
                      <a:noFill/>
                    </a:lnL>
                    <a:lnR>
                      <a:noFill/>
                    </a:lnR>
                    <a:lnT>
                      <a:noFill/>
                    </a:lnT>
                    <a:lnB>
                      <a:noFill/>
                    </a:lnB>
                    <a:noFill/>
                  </a:tcPr>
                </a:tc>
              </a:tr>
              <a:tr h="196850">
                <a:tc>
                  <a:txBody>
                    <a:bodyPr/>
                    <a:p>
                      <a:r>
                        <a:rPr sz="1400"/>
                        <a:t>P1 (357 </a:t>
                      </a:r>
                      <a:r>
                        <a:rPr sz="1400"/>
                        <a:t>KB)</a:t>
                      </a:r>
                      <a:endParaRPr sz="1400"/>
                    </a:p>
                  </a:txBody>
                  <a:tcPr marL="0" marR="0" marT="0" marB="0" anchor="ctr" anchorCtr="0">
                    <a:lnL>
                      <a:noFill/>
                    </a:lnL>
                    <a:lnR>
                      <a:noFill/>
                    </a:lnR>
                    <a:lnT>
                      <a:noFill/>
                    </a:lnT>
                    <a:lnB>
                      <a:noFill/>
                    </a:lnB>
                    <a:noFill/>
                  </a:tcPr>
                </a:tc>
                <a:tc>
                  <a:txBody>
                    <a:bodyPr/>
                    <a:p>
                      <a:r>
                        <a:rPr sz="1400"/>
                        <a:t>400 </a:t>
                      </a:r>
                      <a:r>
                        <a:rPr sz="1400"/>
                        <a:t>KB</a:t>
                      </a:r>
                      <a:endParaRPr sz="1400"/>
                    </a:p>
                  </a:txBody>
                  <a:tcPr marL="0" marR="0" marT="0" marB="0" anchor="ctr" anchorCtr="0">
                    <a:lnL>
                      <a:noFill/>
                    </a:lnL>
                    <a:lnR>
                      <a:noFill/>
                    </a:lnR>
                    <a:lnT>
                      <a:noFill/>
                    </a:lnT>
                    <a:lnB>
                      <a:noFill/>
                    </a:lnB>
                    <a:noFill/>
                  </a:tcPr>
                </a:tc>
                <a:tc>
                  <a:txBody>
                    <a:bodyPr/>
                    <a:p>
                      <a:r>
                        <a:rPr sz="1400"/>
                        <a:t>43 </a:t>
                      </a:r>
                      <a:r>
                        <a:rPr sz="1400"/>
                        <a:t>KB</a:t>
                      </a:r>
                      <a:endParaRPr sz="1400"/>
                    </a:p>
                  </a:txBody>
                  <a:tcPr marL="0" marR="0" marT="0" marB="0" anchor="ctr" anchorCtr="0">
                    <a:lnL>
                      <a:noFill/>
                    </a:lnL>
                    <a:lnR>
                      <a:noFill/>
                    </a:lnR>
                    <a:lnT>
                      <a:noFill/>
                    </a:lnT>
                    <a:lnB>
                      <a:noFill/>
                    </a:lnB>
                    <a:noFill/>
                  </a:tcPr>
                </a:tc>
              </a:tr>
              <a:tr h="196850">
                <a:tc>
                  <a:txBody>
                    <a:bodyPr/>
                    <a:p>
                      <a:r>
                        <a:rPr sz="1400"/>
                        <a:t>P2 (210 </a:t>
                      </a:r>
                      <a:r>
                        <a:rPr sz="1400"/>
                        <a:t>KB)</a:t>
                      </a:r>
                      <a:endParaRPr sz="1400"/>
                    </a:p>
                  </a:txBody>
                  <a:tcPr marL="0" marR="0" marT="0" marB="0" anchor="ctr" anchorCtr="0">
                    <a:lnL>
                      <a:noFill/>
                    </a:lnL>
                    <a:lnR>
                      <a:noFill/>
                    </a:lnR>
                    <a:lnT>
                      <a:noFill/>
                    </a:lnT>
                    <a:lnB>
                      <a:noFill/>
                    </a:lnB>
                    <a:noFill/>
                  </a:tcPr>
                </a:tc>
                <a:tc>
                  <a:txBody>
                    <a:bodyPr/>
                    <a:p>
                      <a:r>
                        <a:rPr sz="1400"/>
                        <a:t>250 </a:t>
                      </a:r>
                      <a:r>
                        <a:rPr sz="1400"/>
                        <a:t>KB</a:t>
                      </a:r>
                      <a:endParaRPr sz="1400"/>
                    </a:p>
                  </a:txBody>
                  <a:tcPr marL="0" marR="0" marT="0" marB="0" anchor="ctr" anchorCtr="0">
                    <a:lnL>
                      <a:noFill/>
                    </a:lnL>
                    <a:lnR>
                      <a:noFill/>
                    </a:lnR>
                    <a:lnT>
                      <a:noFill/>
                    </a:lnT>
                    <a:lnB>
                      <a:noFill/>
                    </a:lnB>
                    <a:noFill/>
                  </a:tcPr>
                </a:tc>
                <a:tc>
                  <a:txBody>
                    <a:bodyPr/>
                    <a:p>
                      <a:r>
                        <a:rPr sz="1400"/>
                        <a:t>40 </a:t>
                      </a:r>
                      <a:r>
                        <a:rPr sz="1400"/>
                        <a:t>KB</a:t>
                      </a:r>
                      <a:endParaRPr sz="1400"/>
                    </a:p>
                  </a:txBody>
                  <a:tcPr marL="0" marR="0" marT="0" marB="0" anchor="ctr" anchorCtr="0">
                    <a:lnL>
                      <a:noFill/>
                    </a:lnL>
                    <a:lnR>
                      <a:noFill/>
                    </a:lnR>
                    <a:lnT>
                      <a:noFill/>
                    </a:lnT>
                    <a:lnB>
                      <a:noFill/>
                    </a:lnB>
                    <a:noFill/>
                  </a:tcPr>
                </a:tc>
              </a:tr>
              <a:tr h="196850">
                <a:tc>
                  <a:txBody>
                    <a:bodyPr/>
                    <a:p>
                      <a:r>
                        <a:rPr sz="1400"/>
                        <a:t>P3 (468 </a:t>
                      </a:r>
                      <a:r>
                        <a:rPr sz="1400"/>
                        <a:t>KB)</a:t>
                      </a:r>
                      <a:endParaRPr sz="1400"/>
                    </a:p>
                  </a:txBody>
                  <a:tcPr marL="0" marR="0" marT="0" marB="0" anchor="ctr" anchorCtr="0">
                    <a:lnL>
                      <a:noFill/>
                    </a:lnL>
                    <a:lnR>
                      <a:noFill/>
                    </a:lnR>
                    <a:lnT>
                      <a:noFill/>
                    </a:lnT>
                    <a:lnB>
                      <a:noFill/>
                    </a:lnB>
                    <a:noFill/>
                  </a:tcPr>
                </a:tc>
                <a:tc>
                  <a:txBody>
                    <a:bodyPr/>
                    <a:p>
                      <a:r>
                        <a:rPr sz="1400"/>
                        <a:t>500 </a:t>
                      </a:r>
                      <a:r>
                        <a:rPr sz="1400"/>
                        <a:t>KB</a:t>
                      </a:r>
                      <a:endParaRPr sz="1400"/>
                    </a:p>
                  </a:txBody>
                  <a:tcPr marL="0" marR="0" marT="0" marB="0" anchor="ctr" anchorCtr="0">
                    <a:lnL>
                      <a:noFill/>
                    </a:lnL>
                    <a:lnR>
                      <a:noFill/>
                    </a:lnR>
                    <a:lnT>
                      <a:noFill/>
                    </a:lnT>
                    <a:lnB>
                      <a:noFill/>
                    </a:lnB>
                    <a:noFill/>
                  </a:tcPr>
                </a:tc>
                <a:tc>
                  <a:txBody>
                    <a:bodyPr/>
                    <a:p>
                      <a:r>
                        <a:rPr sz="1400"/>
                        <a:t>32 </a:t>
                      </a:r>
                      <a:r>
                        <a:rPr sz="1400"/>
                        <a:t>KB</a:t>
                      </a:r>
                      <a:endParaRPr sz="1400"/>
                    </a:p>
                  </a:txBody>
                  <a:tcPr marL="0" marR="0" marT="0" marB="0" anchor="ctr" anchorCtr="0">
                    <a:lnL>
                      <a:noFill/>
                    </a:lnL>
                    <a:lnR>
                      <a:noFill/>
                    </a:lnR>
                    <a:lnT>
                      <a:noFill/>
                    </a:lnT>
                    <a:lnB>
                      <a:noFill/>
                    </a:lnB>
                    <a:noFill/>
                  </a:tcPr>
                </a:tc>
              </a:tr>
              <a:tr h="196850">
                <a:tc>
                  <a:txBody>
                    <a:bodyPr/>
                    <a:p>
                      <a:r>
                        <a:rPr sz="1400"/>
                        <a:t>P4 (491 </a:t>
                      </a:r>
                      <a:r>
                        <a:rPr sz="1400"/>
                        <a:t>KB)</a:t>
                      </a:r>
                      <a:endParaRPr sz="1400"/>
                    </a:p>
                  </a:txBody>
                  <a:tcPr marL="0" marR="0" marT="0" marB="0" anchor="ctr" anchorCtr="0">
                    <a:lnL>
                      <a:noFill/>
                    </a:lnL>
                    <a:lnR>
                      <a:noFill/>
                    </a:lnR>
                    <a:lnT>
                      <a:noFill/>
                    </a:lnT>
                    <a:lnB>
                      <a:noFill/>
                    </a:lnB>
                    <a:noFill/>
                  </a:tcPr>
                </a:tc>
                <a:tc>
                  <a:txBody>
                    <a:bodyPr/>
                    <a:p>
                      <a:r>
                        <a:rPr sz="1400"/>
                        <a:t>600 </a:t>
                      </a:r>
                      <a:r>
                        <a:rPr sz="1400"/>
                        <a:t>KB</a:t>
                      </a:r>
                      <a:endParaRPr sz="1400"/>
                    </a:p>
                  </a:txBody>
                  <a:tcPr marL="0" marR="0" marT="0" marB="0" anchor="ctr" anchorCtr="0">
                    <a:lnL>
                      <a:noFill/>
                    </a:lnL>
                    <a:lnR>
                      <a:noFill/>
                    </a:lnR>
                    <a:lnT>
                      <a:noFill/>
                    </a:lnT>
                    <a:lnB>
                      <a:noFill/>
                    </a:lnB>
                    <a:noFill/>
                  </a:tcPr>
                </a:tc>
                <a:tc>
                  <a:txBody>
                    <a:bodyPr/>
                    <a:p>
                      <a:r>
                        <a:rPr sz="1400"/>
                        <a:t>109 </a:t>
                      </a:r>
                      <a:r>
                        <a:rPr sz="1400"/>
                        <a:t>KB</a:t>
                      </a:r>
                      <a:endParaRPr sz="14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531495" y="5604510"/>
            <a:ext cx="7743825" cy="737235"/>
          </a:xfrm>
          <a:prstGeom prst="rect">
            <a:avLst/>
          </a:prstGeom>
        </p:spPr>
        <p:txBody>
          <a:bodyPr wrap="square">
            <a:spAutoFit/>
          </a:bodyPr>
          <a:p>
            <a:endParaRPr sz="2600"/>
          </a:p>
          <a:p>
            <a:r>
              <a:rPr sz="1600"/>
              <a:t>Result:All 4 processes are allocated successfully.</a:t>
            </a:r>
            <a:endParaRPr sz="16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18795" y="555625"/>
            <a:ext cx="10955020" cy="3433445"/>
          </a:xfrm>
          <a:prstGeom prst="rect">
            <a:avLst/>
          </a:prstGeom>
        </p:spPr>
        <p:txBody>
          <a:bodyPr wrap="square">
            <a:spAutoFit/>
          </a:bodyPr>
          <a:p>
            <a:pPr>
              <a:spcAft>
                <a:spcPct val="60000"/>
              </a:spcAft>
            </a:pPr>
            <a:r>
              <a:rPr sz="2300" b="1"/>
              <a:t>3. Worst Fit Algorithm</a:t>
            </a:r>
            <a:endParaRPr sz="2300" b="1"/>
          </a:p>
          <a:p>
            <a:r>
              <a:rPr sz="1600"/>
              <a:t>Rule:Allocate each process to the largest available hole.</a:t>
            </a:r>
            <a:endParaRPr sz="1600"/>
          </a:p>
          <a:p>
            <a:r>
              <a:rPr sz="1600"/>
              <a:t>Step 1: Allocate P1 = 357 KB</a:t>
            </a:r>
            <a:endParaRPr sz="1600"/>
          </a:p>
          <a:p>
            <a:r>
              <a:rPr sz="1600"/>
              <a:t>The largest hole is 600 KB.</a:t>
            </a:r>
            <a:endParaRPr sz="1600"/>
          </a:p>
          <a:p>
            <a:r>
              <a:rPr sz="1600"/>
              <a:t>600-357=243KB</a:t>
            </a:r>
            <a:endParaRPr sz="1600"/>
          </a:p>
          <a:p>
            <a:r>
              <a:rPr sz="1600"/>
              <a:t>Step 2: Allocate P2 = 210 KB</a:t>
            </a:r>
            <a:endParaRPr sz="1600"/>
          </a:p>
          <a:p>
            <a:r>
              <a:rPr sz="1600"/>
              <a:t>The largest remaining hole is 500 KB.</a:t>
            </a:r>
            <a:endParaRPr sz="1600"/>
          </a:p>
          <a:p>
            <a:r>
              <a:rPr sz="1600"/>
              <a:t>500-210=290KB</a:t>
            </a:r>
            <a:endParaRPr sz="1600"/>
          </a:p>
          <a:p>
            <a:r>
              <a:rPr sz="1600"/>
              <a:t>Step 3: Allocate P3 = 468 KB</a:t>
            </a:r>
            <a:endParaRPr sz="1600"/>
          </a:p>
          <a:p>
            <a:r>
              <a:rPr sz="1600"/>
              <a:t>Cannot be allocated. The largest remaining hole is 400 KB.</a:t>
            </a:r>
            <a:endParaRPr sz="1600"/>
          </a:p>
          <a:p>
            <a:r>
              <a:rPr sz="1600"/>
              <a:t>Step 4: Allocate P4 = 491 KB</a:t>
            </a:r>
            <a:endParaRPr sz="1600"/>
          </a:p>
          <a:p>
            <a:r>
              <a:rPr sz="1600"/>
              <a:t>Cannot be allocated either. The largest remaining hole is still 400 KB.</a:t>
            </a:r>
            <a:endParaRPr sz="1600"/>
          </a:p>
        </p:txBody>
      </p:sp>
      <p:graphicFrame>
        <p:nvGraphicFramePr>
          <p:cNvPr id="5" name="Table 4"/>
          <p:cNvGraphicFramePr/>
          <p:nvPr/>
        </p:nvGraphicFramePr>
        <p:xfrm>
          <a:off x="518795" y="4358323"/>
          <a:ext cx="10485120" cy="0"/>
        </p:xfrm>
        <a:graphic>
          <a:graphicData uri="http://schemas.openxmlformats.org/drawingml/2006/table">
            <a:tbl>
              <a:tblPr/>
              <a:tblGrid>
                <a:gridCol w="3495040"/>
                <a:gridCol w="3495040"/>
                <a:gridCol w="3495040"/>
              </a:tblGrid>
              <a:tr h="0">
                <a:tc>
                  <a:txBody>
                    <a:bodyPr/>
                    <a:p>
                      <a:r>
                        <a:rPr sz="1400"/>
                        <a:t>Process</a:t>
                      </a:r>
                      <a:endParaRPr sz="1400"/>
                    </a:p>
                  </a:txBody>
                  <a:tcPr marL="0" marR="0" marT="0" marB="0" anchor="ctr" anchorCtr="0">
                    <a:lnL>
                      <a:noFill/>
                    </a:lnL>
                    <a:lnR>
                      <a:noFill/>
                    </a:lnR>
                    <a:lnT>
                      <a:noFill/>
                    </a:lnT>
                    <a:lnB>
                      <a:noFill/>
                    </a:lnB>
                    <a:noFill/>
                  </a:tcPr>
                </a:tc>
                <a:tc>
                  <a:txBody>
                    <a:bodyPr/>
                    <a:p>
                      <a:r>
                        <a:rPr sz="1400"/>
                        <a:t>Allocated </a:t>
                      </a:r>
                      <a:r>
                        <a:rPr sz="1400"/>
                        <a:t>hole</a:t>
                      </a:r>
                      <a:endParaRPr sz="1400"/>
                    </a:p>
                  </a:txBody>
                  <a:tcPr marL="0" marR="0" marT="0" marB="0" anchor="ctr" anchorCtr="0">
                    <a:lnL>
                      <a:noFill/>
                    </a:lnL>
                    <a:lnR>
                      <a:noFill/>
                    </a:lnR>
                    <a:lnT>
                      <a:noFill/>
                    </a:lnT>
                    <a:lnB>
                      <a:noFill/>
                    </a:lnB>
                    <a:noFill/>
                  </a:tcPr>
                </a:tc>
                <a:tc>
                  <a:txBody>
                    <a:bodyPr/>
                    <a:p>
                      <a:r>
                        <a:rPr sz="1400"/>
                        <a:t>Remaining </a:t>
                      </a:r>
                      <a:r>
                        <a:rPr sz="1400"/>
                        <a:t>space</a:t>
                      </a:r>
                      <a:endParaRPr sz="1400"/>
                    </a:p>
                  </a:txBody>
                  <a:tcPr marL="0" marR="0" marT="0" marB="0" anchor="ctr" anchorCtr="0">
                    <a:lnL>
                      <a:noFill/>
                    </a:lnL>
                    <a:lnR>
                      <a:noFill/>
                    </a:lnR>
                    <a:lnT>
                      <a:noFill/>
                    </a:lnT>
                    <a:lnB>
                      <a:noFill/>
                    </a:lnB>
                    <a:noFill/>
                  </a:tcPr>
                </a:tc>
              </a:tr>
              <a:tr h="0">
                <a:tc>
                  <a:txBody>
                    <a:bodyPr/>
                    <a:p>
                      <a:r>
                        <a:rPr sz="1400"/>
                        <a:t>P1 (357 </a:t>
                      </a:r>
                      <a:r>
                        <a:rPr sz="1400"/>
                        <a:t>KB)</a:t>
                      </a:r>
                      <a:endParaRPr sz="1400"/>
                    </a:p>
                  </a:txBody>
                  <a:tcPr marL="0" marR="0" marT="0" marB="0" anchor="ctr" anchorCtr="0">
                    <a:lnL>
                      <a:noFill/>
                    </a:lnL>
                    <a:lnR>
                      <a:noFill/>
                    </a:lnR>
                    <a:lnT>
                      <a:noFill/>
                    </a:lnT>
                    <a:lnB>
                      <a:noFill/>
                    </a:lnB>
                    <a:noFill/>
                  </a:tcPr>
                </a:tc>
                <a:tc>
                  <a:txBody>
                    <a:bodyPr/>
                    <a:p>
                      <a:r>
                        <a:rPr sz="1400"/>
                        <a:t>600 </a:t>
                      </a:r>
                      <a:r>
                        <a:rPr sz="1400"/>
                        <a:t>KB</a:t>
                      </a:r>
                      <a:endParaRPr sz="1400"/>
                    </a:p>
                  </a:txBody>
                  <a:tcPr marL="0" marR="0" marT="0" marB="0" anchor="ctr" anchorCtr="0">
                    <a:lnL>
                      <a:noFill/>
                    </a:lnL>
                    <a:lnR>
                      <a:noFill/>
                    </a:lnR>
                    <a:lnT>
                      <a:noFill/>
                    </a:lnT>
                    <a:lnB>
                      <a:noFill/>
                    </a:lnB>
                    <a:noFill/>
                  </a:tcPr>
                </a:tc>
                <a:tc>
                  <a:txBody>
                    <a:bodyPr/>
                    <a:p>
                      <a:r>
                        <a:rPr sz="1400"/>
                        <a:t>243 </a:t>
                      </a:r>
                      <a:r>
                        <a:rPr sz="1400"/>
                        <a:t>KB</a:t>
                      </a:r>
                      <a:endParaRPr sz="1400"/>
                    </a:p>
                  </a:txBody>
                  <a:tcPr marL="0" marR="0" marT="0" marB="0" anchor="ctr" anchorCtr="0">
                    <a:lnL>
                      <a:noFill/>
                    </a:lnL>
                    <a:lnR>
                      <a:noFill/>
                    </a:lnR>
                    <a:lnT>
                      <a:noFill/>
                    </a:lnT>
                    <a:lnB>
                      <a:noFill/>
                    </a:lnB>
                    <a:noFill/>
                  </a:tcPr>
                </a:tc>
              </a:tr>
              <a:tr h="0">
                <a:tc>
                  <a:txBody>
                    <a:bodyPr/>
                    <a:p>
                      <a:r>
                        <a:rPr sz="1400"/>
                        <a:t>P2 (210 </a:t>
                      </a:r>
                      <a:r>
                        <a:rPr sz="1400"/>
                        <a:t>KB)</a:t>
                      </a:r>
                      <a:endParaRPr sz="1400"/>
                    </a:p>
                  </a:txBody>
                  <a:tcPr marL="0" marR="0" marT="0" marB="0" anchor="ctr" anchorCtr="0">
                    <a:lnL>
                      <a:noFill/>
                    </a:lnL>
                    <a:lnR>
                      <a:noFill/>
                    </a:lnR>
                    <a:lnT>
                      <a:noFill/>
                    </a:lnT>
                    <a:lnB>
                      <a:noFill/>
                    </a:lnB>
                    <a:noFill/>
                  </a:tcPr>
                </a:tc>
                <a:tc>
                  <a:txBody>
                    <a:bodyPr/>
                    <a:p>
                      <a:r>
                        <a:rPr sz="1400"/>
                        <a:t>500 </a:t>
                      </a:r>
                      <a:r>
                        <a:rPr sz="1400"/>
                        <a:t>KB</a:t>
                      </a:r>
                      <a:endParaRPr sz="1400"/>
                    </a:p>
                  </a:txBody>
                  <a:tcPr marL="0" marR="0" marT="0" marB="0" anchor="ctr" anchorCtr="0">
                    <a:lnL>
                      <a:noFill/>
                    </a:lnL>
                    <a:lnR>
                      <a:noFill/>
                    </a:lnR>
                    <a:lnT>
                      <a:noFill/>
                    </a:lnT>
                    <a:lnB>
                      <a:noFill/>
                    </a:lnB>
                    <a:noFill/>
                  </a:tcPr>
                </a:tc>
                <a:tc>
                  <a:txBody>
                    <a:bodyPr/>
                    <a:p>
                      <a:r>
                        <a:rPr sz="1400"/>
                        <a:t>290 </a:t>
                      </a:r>
                      <a:r>
                        <a:rPr sz="1400"/>
                        <a:t>KB</a:t>
                      </a:r>
                      <a:endParaRPr sz="1400"/>
                    </a:p>
                  </a:txBody>
                  <a:tcPr marL="0" marR="0" marT="0" marB="0" anchor="ctr" anchorCtr="0">
                    <a:lnL>
                      <a:noFill/>
                    </a:lnL>
                    <a:lnR>
                      <a:noFill/>
                    </a:lnR>
                    <a:lnT>
                      <a:noFill/>
                    </a:lnT>
                    <a:lnB>
                      <a:noFill/>
                    </a:lnB>
                    <a:noFill/>
                  </a:tcPr>
                </a:tc>
              </a:tr>
              <a:tr h="0">
                <a:tc>
                  <a:txBody>
                    <a:bodyPr/>
                    <a:p>
                      <a:r>
                        <a:rPr sz="1400"/>
                        <a:t>P3 (468 </a:t>
                      </a:r>
                      <a:r>
                        <a:rPr sz="1400"/>
                        <a:t>KB)</a:t>
                      </a:r>
                      <a:endParaRPr sz="1400"/>
                    </a:p>
                  </a:txBody>
                  <a:tcPr marL="0" marR="0" marT="0" marB="0" anchor="ctr" anchorCtr="0">
                    <a:lnL>
                      <a:noFill/>
                    </a:lnL>
                    <a:lnR>
                      <a:noFill/>
                    </a:lnR>
                    <a:lnT>
                      <a:noFill/>
                    </a:lnT>
                    <a:lnB>
                      <a:noFill/>
                    </a:lnB>
                    <a:noFill/>
                  </a:tcPr>
                </a:tc>
                <a:tc>
                  <a:txBody>
                    <a:bodyPr/>
                    <a:p>
                      <a:r>
                        <a:rPr sz="1400"/>
                        <a:t>Not </a:t>
                      </a:r>
                      <a:r>
                        <a:rPr sz="1400"/>
                        <a:t>allocated</a:t>
                      </a:r>
                      <a:endParaRPr sz="1400"/>
                    </a:p>
                  </a:txBody>
                  <a:tcPr marL="0" marR="0" marT="0" marB="0" anchor="ctr" anchorCtr="0">
                    <a:lnL>
                      <a:noFill/>
                    </a:lnL>
                    <a:lnR>
                      <a:noFill/>
                    </a:lnR>
                    <a:lnT>
                      <a:noFill/>
                    </a:lnT>
                    <a:lnB>
                      <a:noFill/>
                    </a:lnB>
                    <a:noFill/>
                  </a:tcPr>
                </a:tc>
                <a:tc>
                  <a:txBody>
                    <a:bodyPr/>
                    <a:p>
                      <a:r>
                        <a:rPr sz="1400"/>
                        <a:t>—</a:t>
                      </a:r>
                      <a:endParaRPr sz="1400"/>
                    </a:p>
                  </a:txBody>
                  <a:tcPr marL="0" marR="0" marT="0" marB="0" anchor="ctr" anchorCtr="0">
                    <a:lnL>
                      <a:noFill/>
                    </a:lnL>
                    <a:lnR>
                      <a:noFill/>
                    </a:lnR>
                    <a:lnT>
                      <a:noFill/>
                    </a:lnT>
                    <a:lnB>
                      <a:noFill/>
                    </a:lnB>
                    <a:noFill/>
                  </a:tcPr>
                </a:tc>
              </a:tr>
              <a:tr h="0">
                <a:tc>
                  <a:txBody>
                    <a:bodyPr/>
                    <a:p>
                      <a:r>
                        <a:rPr sz="1400"/>
                        <a:t>P4 (491 </a:t>
                      </a:r>
                      <a:r>
                        <a:rPr sz="1400"/>
                        <a:t>KB)</a:t>
                      </a:r>
                      <a:endParaRPr sz="1400"/>
                    </a:p>
                  </a:txBody>
                  <a:tcPr marL="0" marR="0" marT="0" marB="0" anchor="ctr" anchorCtr="0">
                    <a:lnL>
                      <a:noFill/>
                    </a:lnL>
                    <a:lnR>
                      <a:noFill/>
                    </a:lnR>
                    <a:lnT>
                      <a:noFill/>
                    </a:lnT>
                    <a:lnB>
                      <a:noFill/>
                    </a:lnB>
                    <a:noFill/>
                  </a:tcPr>
                </a:tc>
                <a:tc>
                  <a:txBody>
                    <a:bodyPr/>
                    <a:p>
                      <a:r>
                        <a:rPr sz="1400"/>
                        <a:t>Not </a:t>
                      </a:r>
                      <a:r>
                        <a:rPr sz="1400"/>
                        <a:t>allocated</a:t>
                      </a:r>
                      <a:endParaRPr sz="1400"/>
                    </a:p>
                  </a:txBody>
                  <a:tcPr marL="0" marR="0" marT="0" marB="0" anchor="ctr" anchorCtr="0">
                    <a:lnL>
                      <a:noFill/>
                    </a:lnL>
                    <a:lnR>
                      <a:noFill/>
                    </a:lnR>
                    <a:lnT>
                      <a:noFill/>
                    </a:lnT>
                    <a:lnB>
                      <a:noFill/>
                    </a:lnB>
                    <a:noFill/>
                  </a:tcPr>
                </a:tc>
                <a:tc>
                  <a:txBody>
                    <a:bodyPr/>
                    <a:p>
                      <a:r>
                        <a:rPr sz="1400"/>
                        <a:t>—</a:t>
                      </a:r>
                      <a:endParaRPr sz="1400"/>
                    </a:p>
                  </a:txBody>
                  <a:tcPr marL="0" marR="0" marT="0" marB="0" anchor="ctr" anchorCtr="0">
                    <a:lnL>
                      <a:noFill/>
                    </a:lnL>
                    <a:lnR>
                      <a:noFill/>
                    </a:lnR>
                    <a:lnT>
                      <a:noFill/>
                    </a:lnT>
                    <a:lnB>
                      <a:noFill/>
                    </a:lnB>
                    <a:noFill/>
                  </a:tcPr>
                </a:tc>
              </a:tr>
            </a:tbl>
          </a:graphicData>
        </a:graphic>
      </p:graphicFrame>
      <p:sp>
        <p:nvSpPr>
          <p:cNvPr id="6" name="Text Box 5"/>
          <p:cNvSpPr txBox="1"/>
          <p:nvPr/>
        </p:nvSpPr>
        <p:spPr>
          <a:xfrm>
            <a:off x="3556000" y="5565458"/>
            <a:ext cx="5080000" cy="737235"/>
          </a:xfrm>
          <a:prstGeom prst="rect">
            <a:avLst/>
          </a:prstGeom>
        </p:spPr>
        <p:txBody>
          <a:bodyPr>
            <a:spAutoFit/>
          </a:bodyPr>
          <a:p>
            <a:endParaRPr sz="2600"/>
          </a:p>
          <a:p>
            <a:r>
              <a:rPr sz="1600"/>
              <a:t>Result:Only 2 out of 4 processes are allocated.</a:t>
            </a:r>
            <a:endParaRPr sz="16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828040" y="692150"/>
            <a:ext cx="10406380" cy="3930650"/>
          </a:xfrm>
          <a:prstGeom prst="rect">
            <a:avLst/>
          </a:prstGeom>
        </p:spPr>
        <p:txBody>
          <a:bodyPr wrap="square">
            <a:noAutofit/>
          </a:bodyPr>
          <a:p>
            <a:pPr>
              <a:spcAft>
                <a:spcPct val="60000"/>
              </a:spcAft>
            </a:pPr>
            <a:r>
              <a:rPr sz="2300" b="1"/>
              <a:t>Best Fit is the winner for this example.</a:t>
            </a:r>
            <a:endParaRPr sz="2300" b="1"/>
          </a:p>
          <a:p>
            <a:pPr>
              <a:spcAft>
                <a:spcPct val="60000"/>
              </a:spcAft>
            </a:pPr>
            <a:endParaRPr sz="2300" b="1"/>
          </a:p>
          <a:p>
            <a:pPr>
              <a:spcAft>
                <a:spcPct val="60000"/>
              </a:spcAft>
            </a:pPr>
            <a:r>
              <a:rPr sz="1600"/>
              <a:t>It allocates all four processes by selecting the smallest suitable hole each time.</a:t>
            </a:r>
            <a:endParaRPr sz="1600"/>
          </a:p>
          <a:p>
            <a:pPr algn="l"/>
            <a:br>
              <a:rPr lang="en-US" sz="1600" b="1">
                <a:latin typeface="Rockwell Bold" panose="02060503020205020403" charset="0"/>
                <a:cs typeface="Rockwell Bold" panose="02060503020205020403" charset="0"/>
              </a:rPr>
            </a:br>
            <a:r>
              <a:rPr lang="en-US" sz="1600" b="1">
                <a:latin typeface="Rockwell Bold" panose="02060503020205020403" charset="0"/>
                <a:cs typeface="Rockwell Bold" panose="02060503020205020403" charset="0"/>
              </a:rPr>
              <a:t>C</a:t>
            </a:r>
            <a:r>
              <a:rPr sz="1600" b="1">
                <a:latin typeface="Rockwell Bold" panose="02060503020205020403" charset="0"/>
                <a:cs typeface="Rockwell Bold" panose="02060503020205020403" charset="0"/>
              </a:rPr>
              <a:t>onclusion</a:t>
            </a:r>
            <a:r>
              <a:rPr sz="1600"/>
              <a:t>:</a:t>
            </a:r>
            <a:br>
              <a:rPr sz="1600"/>
            </a:br>
            <a:r>
              <a:rPr sz="1600"/>
              <a:t>For the given memory holes and process sizes, Best Fit is the best allocation strategy because all four processes can be accommodated, whereas First Fit allocates three and Worst Fit allocates only two.</a:t>
            </a:r>
            <a:endParaRPr sz="1600"/>
          </a:p>
          <a:p>
            <a:pPr algn="just"/>
            <a:endParaRPr sz="1600"/>
          </a:p>
          <a:p>
            <a:r>
              <a:rPr sz="1600"/>
              <a:t>Note that Best Fit is best for this particular example; it is not necessarily the best strategy for every memory-allocation problem.</a:t>
            </a:r>
            <a:endParaRPr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pic>
        <p:nvPicPr>
          <p:cNvPr id="5" name="Picture 4"/>
          <p:cNvPicPr>
            <a:picLocks noChangeAspect="1"/>
          </p:cNvPicPr>
          <p:nvPr/>
        </p:nvPicPr>
        <p:blipFill>
          <a:blip r:embed="rId1"/>
          <a:stretch>
            <a:fillRect/>
          </a:stretch>
        </p:blipFill>
        <p:spPr>
          <a:xfrm>
            <a:off x="692086" y="1834461"/>
            <a:ext cx="10503027" cy="5023539"/>
          </a:xfrm>
          <a:prstGeom prst="rect">
            <a:avLst/>
          </a:prstGeom>
        </p:spPr>
      </p:pic>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a:t>
            </a:r>
            <a:endParaRPr lang="en-IN" sz="2800" b="1"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a:t>
            </a:r>
            <a:endParaRPr lang="en-IN" sz="2800" b="1" dirty="0"/>
          </a:p>
        </p:txBody>
      </p:sp>
      <p:sp>
        <p:nvSpPr>
          <p:cNvPr id="3" name="Rectangle 1027"/>
          <p:cNvSpPr txBox="1">
            <a:spLocks noChangeArrowheads="1"/>
          </p:cNvSpPr>
          <p:nvPr/>
        </p:nvSpPr>
        <p:spPr>
          <a:xfrm>
            <a:off x="1155573" y="1601344"/>
            <a:ext cx="10260140" cy="4483100"/>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defRPr/>
            </a:pPr>
            <a:r>
              <a:rPr lang="en-US" altLang="en-US" dirty="0"/>
              <a:t>Address generated by CPU is divided into:</a:t>
            </a:r>
            <a:endParaRPr lang="en-US" altLang="en-US" dirty="0"/>
          </a:p>
          <a:p>
            <a:pPr lvl="1">
              <a:defRPr/>
            </a:pPr>
            <a:r>
              <a:rPr lang="en-US" altLang="en-US" b="1" dirty="0">
                <a:solidFill>
                  <a:srgbClr val="3366FF"/>
                </a:solidFill>
              </a:rPr>
              <a:t>Page number </a:t>
            </a:r>
            <a:r>
              <a:rPr lang="en-US" altLang="en-US" dirty="0"/>
              <a:t>(</a:t>
            </a:r>
            <a:r>
              <a:rPr lang="en-US" altLang="en-US" b="1" i="1" dirty="0">
                <a:solidFill>
                  <a:srgbClr val="3366FF"/>
                </a:solidFill>
              </a:rPr>
              <a:t>p</a:t>
            </a:r>
            <a:r>
              <a:rPr lang="en-US" altLang="en-US" dirty="0"/>
              <a:t>)</a:t>
            </a:r>
            <a:r>
              <a:rPr lang="en-US" altLang="en-US" dirty="0">
                <a:solidFill>
                  <a:srgbClr val="3366FF"/>
                </a:solidFill>
              </a:rPr>
              <a:t> </a:t>
            </a:r>
            <a:r>
              <a:rPr lang="en-US" altLang="en-US" dirty="0"/>
              <a:t>– used as an index into a </a:t>
            </a:r>
            <a:r>
              <a:rPr lang="en-US" altLang="en-US" b="1" dirty="0">
                <a:solidFill>
                  <a:srgbClr val="3366FF"/>
                </a:solidFill>
              </a:rPr>
              <a:t>page table </a:t>
            </a:r>
            <a:r>
              <a:rPr lang="en-US" altLang="en-US" dirty="0"/>
              <a:t>which contains base address of each page in physical memory</a:t>
            </a:r>
            <a:endParaRPr lang="en-US" altLang="en-US" dirty="0"/>
          </a:p>
          <a:p>
            <a:pPr lvl="1">
              <a:defRPr/>
            </a:pPr>
            <a:r>
              <a:rPr lang="en-US" altLang="en-US" b="1" dirty="0">
                <a:solidFill>
                  <a:srgbClr val="3366FF"/>
                </a:solidFill>
              </a:rPr>
              <a:t>Page offset </a:t>
            </a:r>
            <a:r>
              <a:rPr lang="en-US" altLang="en-US" dirty="0"/>
              <a:t>(</a:t>
            </a:r>
            <a:r>
              <a:rPr lang="en-US" altLang="en-US" b="1" i="1" dirty="0">
                <a:solidFill>
                  <a:srgbClr val="3366FF"/>
                </a:solidFill>
              </a:rPr>
              <a:t>d</a:t>
            </a:r>
            <a:r>
              <a:rPr lang="en-US" altLang="en-US" dirty="0"/>
              <a:t>)</a:t>
            </a:r>
            <a:r>
              <a:rPr lang="en-US" altLang="en-US" dirty="0">
                <a:solidFill>
                  <a:srgbClr val="3366FF"/>
                </a:solidFill>
              </a:rPr>
              <a:t> </a:t>
            </a:r>
            <a:r>
              <a:rPr lang="en-US" altLang="en-US" dirty="0"/>
              <a:t>– combined with base address to define the physical memory address that is sent to the memory unit</a:t>
            </a:r>
            <a:endParaRPr lang="en-US" altLang="en-US" dirty="0"/>
          </a:p>
          <a:p>
            <a:pPr lvl="1">
              <a:defRPr/>
            </a:pPr>
            <a:endParaRPr lang="en-US" altLang="en-US" dirty="0"/>
          </a:p>
          <a:p>
            <a:pPr lvl="1">
              <a:defRPr/>
            </a:pPr>
            <a:endParaRPr lang="en-US" altLang="en-US" dirty="0"/>
          </a:p>
          <a:p>
            <a:pPr lvl="1" indent="0">
              <a:buFont typeface="Monotype Sorts" pitchFamily="-84" charset="2"/>
              <a:buNone/>
              <a:defRPr/>
            </a:pPr>
            <a:endParaRPr lang="en-US" altLang="en-US" dirty="0"/>
          </a:p>
          <a:p>
            <a:pPr lvl="1">
              <a:defRPr/>
            </a:pPr>
            <a:endParaRPr lang="en-US" altLang="en-US" dirty="0"/>
          </a:p>
          <a:p>
            <a:pPr lvl="1">
              <a:defRPr/>
            </a:pPr>
            <a:r>
              <a:rPr lang="en-US" altLang="en-US" dirty="0"/>
              <a:t>For given logical address space 2</a:t>
            </a:r>
            <a:r>
              <a:rPr lang="en-US" altLang="en-US" i="1" baseline="30000" dirty="0"/>
              <a:t>m </a:t>
            </a:r>
            <a:r>
              <a:rPr lang="en-US" altLang="en-US" dirty="0"/>
              <a:t>and page size</a:t>
            </a:r>
            <a:r>
              <a:rPr lang="en-US" altLang="en-US" baseline="30000" dirty="0"/>
              <a:t> </a:t>
            </a:r>
            <a:r>
              <a:rPr lang="en-US" altLang="en-US" i="1" dirty="0"/>
              <a:t>2</a:t>
            </a:r>
            <a:r>
              <a:rPr lang="en-US" altLang="en-US" baseline="30000" dirty="0"/>
              <a:t>n</a:t>
            </a:r>
            <a:endParaRPr lang="en-US" altLang="en-US" baseline="30000" dirty="0"/>
          </a:p>
        </p:txBody>
      </p:sp>
      <p:pic>
        <p:nvPicPr>
          <p:cNvPr id="7"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4086226" y="3068638"/>
            <a:ext cx="3343275" cy="1228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a:t>
            </a:r>
            <a:endParaRPr lang="en-IN" sz="2800" b="1" dirty="0"/>
          </a:p>
        </p:txBody>
      </p:sp>
      <p:pic>
        <p:nvPicPr>
          <p:cNvPr id="7" name="Picture 6" descr="pagining"/>
          <p:cNvPicPr>
            <a:picLocks noChangeAspect="1"/>
          </p:cNvPicPr>
          <p:nvPr/>
        </p:nvPicPr>
        <p:blipFill>
          <a:blip r:embed="rId1"/>
          <a:stretch>
            <a:fillRect/>
          </a:stretch>
        </p:blipFill>
        <p:spPr>
          <a:xfrm>
            <a:off x="1692910" y="1604010"/>
            <a:ext cx="7377430" cy="529272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724535" y="569595"/>
            <a:ext cx="10547985" cy="5077460"/>
          </a:xfrm>
          <a:prstGeom prst="rect">
            <a:avLst/>
          </a:prstGeom>
        </p:spPr>
        <p:txBody>
          <a:bodyPr wrap="square">
            <a:spAutoFit/>
          </a:bodyPr>
          <a:p>
            <a:r>
              <a:t>Suppose:</a:t>
            </a:r>
          </a:p>
          <a:p/>
          <a:p>
            <a:pPr>
              <a:buFont typeface="Arial" panose="020B0604020202090204"/>
              <a:buChar char="•"/>
            </a:pPr>
            <a:r>
              <a:t>Page size = 1 KB</a:t>
            </a:r>
          </a:p>
          <a:p>
            <a:pPr>
              <a:buFont typeface="Arial" panose="020B0604020202090204"/>
              <a:buChar char="•"/>
            </a:pPr>
            <a:r>
              <a:t>Logical address = 2500</a:t>
            </a:r>
          </a:p>
          <a:p>
            <a:pPr>
              <a:buFont typeface="Arial" panose="020B0604020202090204"/>
              <a:buChar char="•"/>
            </a:pPr>
            <a:r>
              <a:t>Page 2 is stored in frame 5</a:t>
            </a:r>
          </a:p>
          <a:p>
            <a:pPr>
              <a:buFont typeface="Arial" panose="020B0604020202090204"/>
              <a:buChar char="•"/>
            </a:pPr>
            <a:r>
              <a:t>Each address refers to one byte, and pages are numbered from 0.</a:t>
            </a:r>
          </a:p>
          <a:p>
            <a:pPr>
              <a:buFont typeface="Arial" panose="020B0604020202090204"/>
              <a:buChar char="•"/>
            </a:pPr>
          </a:p>
          <a:p>
            <a:r>
              <a:t>First, divide the logical address by the page size.</a:t>
            </a:r>
          </a:p>
          <a:p>
            <a:r>
              <a:t>p=</a:t>
            </a:r>
            <a:r>
              <a:rPr lang="en-US"/>
              <a:t>(</a:t>
            </a:r>
            <a:r>
              <a:t>2500/1024</a:t>
            </a:r>
            <a:r>
              <a:rPr lang="en-US"/>
              <a:t>)</a:t>
            </a:r>
            <a:r>
              <a:t>=2</a:t>
            </a:r>
          </a:p>
          <a:p>
            <a:r>
              <a:t>d=2500-(2</a:t>
            </a:r>
            <a:r>
              <a:rPr lang="en-US"/>
              <a:t> x 1024</a:t>
            </a:r>
            <a:r>
              <a:t>)=452</a:t>
            </a:r>
          </a:p>
          <a:p/>
          <a:p>
            <a:r>
              <a:t>So the logical address is (page 2, offset 452).</a:t>
            </a:r>
          </a:p>
          <a:p/>
          <a:p>
            <a:r>
              <a:t>The page table tells us that page 2 is stored in frame 5. Therefore:</a:t>
            </a:r>
          </a:p>
          <a:p/>
          <a:p>
            <a:r>
              <a:t>Physical address=(5</a:t>
            </a:r>
            <a:r>
              <a:rPr lang="en-US"/>
              <a:t> x </a:t>
            </a:r>
            <a:r>
              <a:t>1024)+452</a:t>
            </a:r>
          </a:p>
          <a:p/>
          <a:p>
            <a:r>
              <a:t>The physical address is 5572.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EXAMPLE </a:t>
            </a:r>
            <a:endParaRPr lang="en-IN" sz="2800" b="1" dirty="0"/>
          </a:p>
        </p:txBody>
      </p:sp>
      <p:pic>
        <p:nvPicPr>
          <p:cNvPr id="3" name="Picture 2"/>
          <p:cNvPicPr>
            <a:picLocks noChangeAspect="1"/>
          </p:cNvPicPr>
          <p:nvPr/>
        </p:nvPicPr>
        <p:blipFill>
          <a:blip r:embed="rId1"/>
          <a:stretch>
            <a:fillRect/>
          </a:stretch>
        </p:blipFill>
        <p:spPr>
          <a:xfrm>
            <a:off x="1275080" y="1578610"/>
            <a:ext cx="7713345" cy="4477385"/>
          </a:xfrm>
          <a:prstGeom prst="rect">
            <a:avLst/>
          </a:prstGeom>
        </p:spPr>
      </p:pic>
      <p:pic>
        <p:nvPicPr>
          <p:cNvPr id="7" name="Picture 6"/>
          <p:cNvPicPr>
            <a:picLocks noChangeAspect="1"/>
          </p:cNvPicPr>
          <p:nvPr/>
        </p:nvPicPr>
        <p:blipFill>
          <a:blip r:embed="rId2"/>
          <a:stretch>
            <a:fillRect/>
          </a:stretch>
        </p:blipFill>
        <p:spPr>
          <a:xfrm>
            <a:off x="2786063" y="6373368"/>
            <a:ext cx="8772525" cy="432854"/>
          </a:xfrm>
          <a:prstGeom prst="rect">
            <a:avLst/>
          </a:prstGeom>
        </p:spPr>
      </p:pic>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EXAMPLE </a:t>
            </a:r>
            <a:endParaRPr lang="en-IN" sz="2800" b="1" dirty="0"/>
          </a:p>
        </p:txBody>
      </p:sp>
      <p:sp>
        <p:nvSpPr>
          <p:cNvPr id="5" name="TextBox 4"/>
          <p:cNvSpPr txBox="1"/>
          <p:nvPr/>
        </p:nvSpPr>
        <p:spPr>
          <a:xfrm>
            <a:off x="1069848" y="1743075"/>
            <a:ext cx="10174415" cy="3416320"/>
          </a:xfrm>
          <a:prstGeom prst="rect">
            <a:avLst/>
          </a:prstGeom>
          <a:noFill/>
        </p:spPr>
        <p:txBody>
          <a:bodyPr wrap="square" rtlCol="0">
            <a:spAutoFit/>
          </a:bodyPr>
          <a:lstStyle/>
          <a:p>
            <a:r>
              <a:rPr lang="en-IN" dirty="0"/>
              <a:t>QUESTION: </a:t>
            </a:r>
            <a:endParaRPr lang="en-IN" dirty="0"/>
          </a:p>
          <a:p>
            <a:endParaRPr lang="en-IN" dirty="0"/>
          </a:p>
          <a:p>
            <a:r>
              <a:rPr lang="en-IN" dirty="0"/>
              <a:t>LOGICAL ADDRESS SPACE (LAS) is 128KB, PHYSICAL ADDRESS SPACE (PAS) is 512KB and PAGE SIZE is 16KB [Byte addressable]</a:t>
            </a:r>
            <a:endParaRPr lang="en-IN" dirty="0"/>
          </a:p>
          <a:p>
            <a:endParaRPr lang="en-IN" dirty="0"/>
          </a:p>
          <a:p>
            <a:r>
              <a:rPr lang="en-IN" dirty="0"/>
              <a:t>CALCULATE FOLLOWING:</a:t>
            </a:r>
            <a:endParaRPr lang="en-IN" dirty="0"/>
          </a:p>
          <a:p>
            <a:endParaRPr lang="en-IN" dirty="0"/>
          </a:p>
          <a:p>
            <a:pPr marL="342900" indent="-342900">
              <a:buAutoNum type="alphaLcParenR"/>
            </a:pPr>
            <a:r>
              <a:rPr lang="en-IN" dirty="0"/>
              <a:t>Number of Bits of Logical Address (LA)</a:t>
            </a:r>
            <a:endParaRPr lang="en-IN" dirty="0"/>
          </a:p>
          <a:p>
            <a:pPr marL="342900" indent="-342900">
              <a:buAutoNum type="alphaLcParenR"/>
            </a:pPr>
            <a:r>
              <a:rPr lang="en-IN" dirty="0"/>
              <a:t>Number of Bits of Physical Address (PA)</a:t>
            </a:r>
            <a:endParaRPr lang="en-IN" dirty="0"/>
          </a:p>
          <a:p>
            <a:pPr marL="342900" indent="-342900">
              <a:buAutoNum type="alphaLcParenR"/>
            </a:pPr>
            <a:r>
              <a:rPr lang="en-IN" dirty="0"/>
              <a:t>Number of pages in process (LAS)</a:t>
            </a:r>
            <a:endParaRPr lang="en-IN" dirty="0"/>
          </a:p>
          <a:p>
            <a:pPr marL="342900" indent="-342900">
              <a:buAutoNum type="alphaLcParenR"/>
            </a:pPr>
            <a:r>
              <a:rPr lang="en-IN" dirty="0"/>
              <a:t>Number of Frames in memory (PAS)</a:t>
            </a:r>
            <a:endParaRPr lang="en-IN" dirty="0"/>
          </a:p>
          <a:p>
            <a:pPr marL="342900" indent="-342900">
              <a:buAutoNum type="alphaLcParenR"/>
            </a:pPr>
            <a:r>
              <a:rPr lang="en-IN" dirty="0"/>
              <a:t>Page Table Size</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EXAMPLE </a:t>
            </a:r>
            <a:endParaRPr lang="en-IN" sz="2800" b="1" dirty="0"/>
          </a:p>
        </p:txBody>
      </p:sp>
      <p:sp>
        <p:nvSpPr>
          <p:cNvPr id="5" name="TextBox 4"/>
          <p:cNvSpPr txBox="1"/>
          <p:nvPr/>
        </p:nvSpPr>
        <p:spPr>
          <a:xfrm>
            <a:off x="1069848" y="1743075"/>
            <a:ext cx="10174415" cy="5077460"/>
          </a:xfrm>
          <a:prstGeom prst="rect">
            <a:avLst/>
          </a:prstGeom>
          <a:noFill/>
        </p:spPr>
        <p:txBody>
          <a:bodyPr wrap="square" rtlCol="0">
            <a:spAutoFit/>
          </a:bodyPr>
          <a:lstStyle/>
          <a:p>
            <a:r>
              <a:rPr lang="en-IN" dirty="0"/>
              <a:t>SOLUTION:</a:t>
            </a:r>
            <a:endParaRPr lang="en-IN" dirty="0"/>
          </a:p>
          <a:p>
            <a:endParaRPr lang="en-IN" dirty="0"/>
          </a:p>
          <a:p>
            <a:pPr marL="342900" indent="-342900">
              <a:buAutoNum type="alphaLcParenR"/>
            </a:pPr>
            <a:r>
              <a:rPr lang="en-IN" dirty="0"/>
              <a:t>Number of Bits of Logical Address (LA)</a:t>
            </a:r>
            <a:endParaRPr lang="en-IN" dirty="0"/>
          </a:p>
          <a:p>
            <a:r>
              <a:rPr lang="en-IN" dirty="0"/>
              <a:t>         128KB =</a:t>
            </a:r>
            <a:r>
              <a:rPr lang="en-US" altLang="en-IN" dirty="0"/>
              <a:t>128*1024=131072=</a:t>
            </a:r>
            <a:r>
              <a:rPr lang="en-IN" dirty="0"/>
              <a:t> 2</a:t>
            </a:r>
            <a:r>
              <a:rPr lang="en-IN" baseline="30000" dirty="0"/>
              <a:t>17 </a:t>
            </a:r>
            <a:r>
              <a:rPr lang="en-IN" dirty="0"/>
              <a:t>Bytes              17 bits will be required for LA</a:t>
            </a:r>
            <a:endParaRPr lang="en-IN" baseline="30000" dirty="0"/>
          </a:p>
          <a:p>
            <a:r>
              <a:rPr lang="en-IN" dirty="0"/>
              <a:t>     </a:t>
            </a:r>
            <a:endParaRPr lang="en-IN" dirty="0"/>
          </a:p>
          <a:p>
            <a:r>
              <a:rPr lang="en-IN" dirty="0"/>
              <a:t>b) Number of Bits of Physical Address (PA)</a:t>
            </a:r>
            <a:endParaRPr lang="en-IN" dirty="0"/>
          </a:p>
          <a:p>
            <a:r>
              <a:rPr lang="en-IN" dirty="0"/>
              <a:t>          512KB =</a:t>
            </a:r>
            <a:r>
              <a:rPr lang="en-US" altLang="en-IN" dirty="0"/>
              <a:t>512*1024=524288=</a:t>
            </a:r>
            <a:r>
              <a:rPr lang="en-IN" dirty="0"/>
              <a:t> 2</a:t>
            </a:r>
            <a:r>
              <a:rPr lang="en-IN" baseline="30000" dirty="0"/>
              <a:t>19</a:t>
            </a:r>
            <a:r>
              <a:rPr lang="en-IN" dirty="0"/>
              <a:t> Bytes             19 bits will be required for PA</a:t>
            </a:r>
            <a:endParaRPr lang="en-IN" dirty="0"/>
          </a:p>
          <a:p>
            <a:endParaRPr lang="en-IN" dirty="0"/>
          </a:p>
          <a:p>
            <a:r>
              <a:rPr lang="en-IN" dirty="0"/>
              <a:t>c) Number of pages in process (LAS)</a:t>
            </a:r>
            <a:endParaRPr lang="en-IN" dirty="0"/>
          </a:p>
          <a:p>
            <a:r>
              <a:rPr lang="en-IN" dirty="0"/>
              <a:t>         </a:t>
            </a:r>
            <a:r>
              <a:rPr lang="en-US" altLang="en-IN" dirty="0"/>
              <a:t>128KB/16KB =8 Pages</a:t>
            </a:r>
            <a:r>
              <a:rPr lang="en-IN" dirty="0"/>
              <a:t>       formula= LAS/Page Size     8 pages</a:t>
            </a:r>
            <a:endParaRPr lang="en-IN" dirty="0"/>
          </a:p>
          <a:p>
            <a:endParaRPr lang="en-IN" dirty="0"/>
          </a:p>
          <a:p>
            <a:r>
              <a:rPr lang="en-IN" dirty="0"/>
              <a:t>d) Number of Frames in memory (PAS)</a:t>
            </a:r>
            <a:endParaRPr lang="en-IN" dirty="0"/>
          </a:p>
          <a:p>
            <a:r>
              <a:rPr lang="en-IN" dirty="0"/>
              <a:t>      Page size = Frame size   formula = PAS/Frame Size    </a:t>
            </a:r>
            <a:r>
              <a:rPr lang="en-US" altLang="en-IN" dirty="0"/>
              <a:t>512/16=32 frames</a:t>
            </a:r>
            <a:endParaRPr lang="en-IN" dirty="0"/>
          </a:p>
          <a:p>
            <a:r>
              <a:rPr lang="en-IN" dirty="0"/>
              <a:t>    </a:t>
            </a:r>
            <a:endParaRPr lang="en-IN" dirty="0"/>
          </a:p>
          <a:p>
            <a:r>
              <a:rPr lang="en-IN" dirty="0"/>
              <a:t>e) Page Table Size</a:t>
            </a:r>
            <a:endParaRPr lang="en-IN" dirty="0"/>
          </a:p>
          <a:p>
            <a:r>
              <a:rPr lang="en-IN" dirty="0"/>
              <a:t>        formula = No of Pages * Page entry size</a:t>
            </a:r>
            <a:r>
              <a:rPr lang="en-US" altLang="en-IN" dirty="0"/>
              <a:t> (log (32)) to identify the 32 frames</a:t>
            </a:r>
            <a:endParaRPr lang="en-IN" dirty="0"/>
          </a:p>
          <a:p>
            <a:r>
              <a:rPr lang="en-IN" dirty="0"/>
              <a:t>                        =    8 * 5</a:t>
            </a:r>
            <a:endParaRPr lang="en-IN" dirty="0"/>
          </a:p>
          <a:p>
            <a:r>
              <a:rPr lang="en-IN" dirty="0"/>
              <a:t>                        = 40 bits</a:t>
            </a:r>
            <a:r>
              <a:rPr lang="en-US" altLang="en-IN" dirty="0"/>
              <a:t> or 5 bytes(40/8)</a:t>
            </a:r>
            <a:endParaRPr lang="en-US" altLang="en-IN"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EXAMPLE </a:t>
            </a:r>
            <a:endParaRPr lang="en-IN" sz="2800" b="1" dirty="0"/>
          </a:p>
        </p:txBody>
      </p:sp>
      <p:sp>
        <p:nvSpPr>
          <p:cNvPr id="7" name="TextBox 6"/>
          <p:cNvSpPr txBox="1"/>
          <p:nvPr/>
        </p:nvSpPr>
        <p:spPr>
          <a:xfrm>
            <a:off x="975455" y="1799272"/>
            <a:ext cx="10545890" cy="3139321"/>
          </a:xfrm>
          <a:prstGeom prst="rect">
            <a:avLst/>
          </a:prstGeom>
          <a:noFill/>
        </p:spPr>
        <p:txBody>
          <a:bodyPr wrap="square">
            <a:spAutoFit/>
          </a:bodyPr>
          <a:lstStyle/>
          <a:p>
            <a:r>
              <a:rPr lang="en-US" b="1" dirty="0"/>
              <a:t>Assignment Question I:</a:t>
            </a:r>
            <a:endParaRPr lang="en-US" b="1" dirty="0"/>
          </a:p>
          <a:p>
            <a:endParaRPr lang="en-US" dirty="0"/>
          </a:p>
          <a:p>
            <a:r>
              <a:rPr lang="en-US" b="1" dirty="0"/>
              <a:t>GIVEN DATA :</a:t>
            </a:r>
            <a:endParaRPr lang="en-US" b="1" dirty="0"/>
          </a:p>
          <a:p>
            <a:endParaRPr lang="en-US" dirty="0"/>
          </a:p>
          <a:p>
            <a:r>
              <a:rPr lang="en-US" dirty="0"/>
              <a:t>64 MB physical memory</a:t>
            </a:r>
            <a:endParaRPr lang="en-US" dirty="0"/>
          </a:p>
          <a:p>
            <a:r>
              <a:rPr lang="en-US" dirty="0"/>
              <a:t>32 bit virtual address space. </a:t>
            </a:r>
            <a:endParaRPr lang="en-US" dirty="0"/>
          </a:p>
          <a:p>
            <a:r>
              <a:rPr lang="en-US" dirty="0"/>
              <a:t>page size is 4 KB </a:t>
            </a:r>
            <a:endParaRPr lang="en-US" dirty="0"/>
          </a:p>
          <a:p>
            <a:endParaRPr lang="en-US" dirty="0"/>
          </a:p>
          <a:p>
            <a:r>
              <a:rPr lang="en-US" dirty="0"/>
              <a:t>Consider the memory as byte addressable.</a:t>
            </a:r>
            <a:endParaRPr lang="en-US" dirty="0"/>
          </a:p>
          <a:p>
            <a:endParaRPr lang="en-US" dirty="0"/>
          </a:p>
          <a:p>
            <a:r>
              <a:rPr lang="en-US" dirty="0"/>
              <a:t>what is the approximate size of the page table?</a:t>
            </a:r>
            <a:endParaRPr lang="en-I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62355" y="918210"/>
            <a:ext cx="9495790" cy="4910455"/>
          </a:xfrm>
          <a:prstGeom prst="rect">
            <a:avLst/>
          </a:prstGeom>
        </p:spPr>
        <p:txBody>
          <a:bodyPr wrap="square">
            <a:spAutoFit/>
          </a:bodyPr>
          <a:p>
            <a:pPr>
              <a:spcAft>
                <a:spcPct val="60000"/>
              </a:spcAft>
            </a:pPr>
            <a:r>
              <a:rPr sz="2300" b="1"/>
              <a:t>Step 1: Calculate the number of pages</a:t>
            </a:r>
            <a:endParaRPr sz="2300" b="1"/>
          </a:p>
          <a:p>
            <a:r>
              <a:rPr sz="1600"/>
              <a:t>A 32-bit virtual address space can address:</a:t>
            </a:r>
            <a:endParaRPr sz="1600"/>
          </a:p>
          <a:p>
            <a:endParaRPr sz="1600"/>
          </a:p>
          <a:p>
            <a:r>
              <a:rPr lang="en-US" sz="1600"/>
              <a:t>2</a:t>
            </a:r>
            <a:r>
              <a:rPr sz="1600" baseline="30000"/>
              <a:t>32</a:t>
            </a:r>
            <a:r>
              <a:rPr sz="1600"/>
              <a:t> bytes</a:t>
            </a:r>
            <a:r>
              <a:rPr lang="en-US" sz="1600"/>
              <a:t> </a:t>
            </a:r>
            <a:r>
              <a:rPr sz="1600"/>
              <a:t>=4GB</a:t>
            </a:r>
            <a:endParaRPr sz="1600"/>
          </a:p>
          <a:p>
            <a:endParaRPr sz="1600"/>
          </a:p>
          <a:p>
            <a:r>
              <a:rPr sz="1600"/>
              <a:t>Page size:</a:t>
            </a:r>
            <a:endParaRPr sz="1600"/>
          </a:p>
          <a:p>
            <a:endParaRPr sz="1600"/>
          </a:p>
          <a:p>
            <a:r>
              <a:rPr sz="1600"/>
              <a:t>4KB</a:t>
            </a:r>
            <a:r>
              <a:rPr lang="en-US" sz="1600"/>
              <a:t> </a:t>
            </a:r>
            <a:r>
              <a:rPr sz="1600"/>
              <a:t>=2^12</a:t>
            </a:r>
            <a:r>
              <a:rPr lang="en-US" sz="1600"/>
              <a:t> </a:t>
            </a:r>
            <a:r>
              <a:rPr sz="1600"/>
              <a:t>bytes</a:t>
            </a:r>
            <a:endParaRPr sz="1600"/>
          </a:p>
          <a:p>
            <a:endParaRPr sz="1600"/>
          </a:p>
          <a:p>
            <a:r>
              <a:rPr sz="1600"/>
              <a:t>Formula:</a:t>
            </a:r>
            <a:endParaRPr sz="1600"/>
          </a:p>
          <a:p>
            <a:endParaRPr sz="1600"/>
          </a:p>
          <a:p>
            <a:r>
              <a:rPr sz="1600"/>
              <a:t>Number of pages=Virtual address space</a:t>
            </a:r>
            <a:r>
              <a:rPr lang="en-US" sz="1600"/>
              <a:t>/</a:t>
            </a:r>
            <a:r>
              <a:rPr sz="1600"/>
              <a:t>Page size</a:t>
            </a:r>
            <a:endParaRPr sz="1600"/>
          </a:p>
          <a:p>
            <a:endParaRPr sz="1600"/>
          </a:p>
          <a:p>
            <a:r>
              <a:rPr lang="en-US" sz="1600"/>
              <a:t>2</a:t>
            </a:r>
            <a:r>
              <a:rPr lang="en-US" sz="1600" baseline="30000"/>
              <a:t>32</a:t>
            </a:r>
            <a:r>
              <a:rPr lang="en-US" sz="1600"/>
              <a:t>/2</a:t>
            </a:r>
            <a:r>
              <a:rPr lang="en-US" sz="1600" baseline="30000"/>
              <a:t>12</a:t>
            </a:r>
            <a:r>
              <a:rPr lang="en-US" sz="1600"/>
              <a:t>=2</a:t>
            </a:r>
            <a:r>
              <a:rPr lang="en-US" sz="1600" baseline="30000"/>
              <a:t>20</a:t>
            </a:r>
            <a:endParaRPr lang="en-US" sz="1600"/>
          </a:p>
          <a:p>
            <a:endParaRPr sz="1600"/>
          </a:p>
          <a:p>
            <a:r>
              <a:rPr sz="1600"/>
              <a:t>Therefore,</a:t>
            </a:r>
            <a:endParaRPr sz="1600"/>
          </a:p>
          <a:p>
            <a:endParaRPr sz="1600"/>
          </a:p>
          <a:p>
            <a:r>
              <a:rPr sz="1600"/>
              <a:t>Number of pages=1,048,576</a:t>
            </a:r>
            <a:endParaRPr sz="16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EXAMPLE </a:t>
            </a:r>
            <a:endParaRPr lang="en-IN" sz="2800" b="1" dirty="0"/>
          </a:p>
        </p:txBody>
      </p:sp>
      <p:sp>
        <p:nvSpPr>
          <p:cNvPr id="7" name="TextBox 6"/>
          <p:cNvSpPr txBox="1"/>
          <p:nvPr/>
        </p:nvSpPr>
        <p:spPr>
          <a:xfrm>
            <a:off x="975455" y="1799272"/>
            <a:ext cx="10545890" cy="2862322"/>
          </a:xfrm>
          <a:prstGeom prst="rect">
            <a:avLst/>
          </a:prstGeom>
          <a:noFill/>
        </p:spPr>
        <p:txBody>
          <a:bodyPr wrap="square">
            <a:spAutoFit/>
          </a:bodyPr>
          <a:lstStyle/>
          <a:p>
            <a:r>
              <a:rPr lang="en-US" b="1" dirty="0"/>
              <a:t>Assignment Question II:</a:t>
            </a:r>
            <a:endParaRPr lang="en-US" b="1" dirty="0"/>
          </a:p>
          <a:p>
            <a:endParaRPr lang="en-US" dirty="0"/>
          </a:p>
          <a:p>
            <a:r>
              <a:rPr lang="en-US" b="1" dirty="0"/>
              <a:t>GIVEN DATA :</a:t>
            </a:r>
            <a:endParaRPr lang="en-US" b="1" dirty="0"/>
          </a:p>
          <a:p>
            <a:endParaRPr lang="en-US" dirty="0"/>
          </a:p>
          <a:p>
            <a:r>
              <a:rPr lang="en-US" altLang="en-US" dirty="0"/>
              <a:t>Calculating internal fragmentation</a:t>
            </a:r>
            <a:endParaRPr lang="en-US" altLang="en-US" dirty="0"/>
          </a:p>
          <a:p>
            <a:endParaRPr lang="en-US" altLang="en-US" dirty="0"/>
          </a:p>
          <a:p>
            <a:pPr lvl="1"/>
            <a:r>
              <a:rPr lang="en-US" altLang="en-US" dirty="0"/>
              <a:t>Page size = 2,048 bytes</a:t>
            </a:r>
            <a:endParaRPr lang="en-US" altLang="en-US" dirty="0"/>
          </a:p>
          <a:p>
            <a:pPr lvl="1"/>
            <a:r>
              <a:rPr lang="en-US" altLang="en-US" dirty="0"/>
              <a:t>Process size = 72,766 bytes</a:t>
            </a:r>
            <a:endParaRPr lang="en-US" altLang="en-US" dirty="0"/>
          </a:p>
          <a:p>
            <a:endParaRPr lang="en-US" dirty="0"/>
          </a:p>
          <a:p>
            <a:r>
              <a:rPr lang="en-US" dirty="0"/>
              <a:t>Consider the memory as byte addressable.</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1023620" y="360045"/>
            <a:ext cx="9482455" cy="3187065"/>
          </a:xfrm>
          <a:prstGeom prst="rect">
            <a:avLst/>
          </a:prstGeom>
        </p:spPr>
        <p:txBody>
          <a:bodyPr wrap="square">
            <a:spAutoFit/>
          </a:bodyPr>
          <a:p>
            <a:pPr>
              <a:spcAft>
                <a:spcPct val="60000"/>
              </a:spcAft>
            </a:pPr>
            <a:r>
              <a:rPr sz="2300" b="1"/>
              <a:t>Step 1: Calculate the number of pages required</a:t>
            </a:r>
            <a:endParaRPr sz="2300" b="1"/>
          </a:p>
          <a:p>
            <a:r>
              <a:rPr sz="1600"/>
              <a:t>Formula:</a:t>
            </a:r>
            <a:endParaRPr sz="1600"/>
          </a:p>
          <a:p>
            <a:r>
              <a:rPr sz="1600"/>
              <a:t>Number of pages= Process size</a:t>
            </a:r>
            <a:r>
              <a:rPr lang="en-US" sz="1600"/>
              <a:t>/</a:t>
            </a:r>
            <a:r>
              <a:rPr sz="1600"/>
              <a:t>Page size</a:t>
            </a:r>
            <a:endParaRPr sz="1600"/>
          </a:p>
          <a:p>
            <a:endParaRPr sz="1600"/>
          </a:p>
          <a:p>
            <a:r>
              <a:rPr sz="1600"/>
              <a:t>Substitute the values:</a:t>
            </a:r>
            <a:endParaRPr sz="1600"/>
          </a:p>
          <a:p>
            <a:endParaRPr sz="1600"/>
          </a:p>
          <a:p>
            <a:r>
              <a:rPr lang="en-US" sz="1600"/>
              <a:t>Pages=72766/2048</a:t>
            </a:r>
            <a:endParaRPr lang="en-US" sz="1600"/>
          </a:p>
          <a:p>
            <a:r>
              <a:rPr lang="en-US" sz="1600"/>
              <a:t>=35.53</a:t>
            </a:r>
            <a:endParaRPr lang="en-US" sz="1600"/>
          </a:p>
          <a:p>
            <a:endParaRPr sz="1600"/>
          </a:p>
          <a:p>
            <a:r>
              <a:rPr sz="1600"/>
              <a:t>Since we cannot allocate a fraction of a page:</a:t>
            </a:r>
            <a:endParaRPr sz="1600"/>
          </a:p>
          <a:p>
            <a:r>
              <a:rPr sz="1600"/>
              <a:t>Number of pages=36</a:t>
            </a:r>
            <a:endParaRPr sz="1600"/>
          </a:p>
        </p:txBody>
      </p:sp>
      <p:sp>
        <p:nvSpPr>
          <p:cNvPr id="5" name="Text Box 4"/>
          <p:cNvSpPr txBox="1"/>
          <p:nvPr/>
        </p:nvSpPr>
        <p:spPr>
          <a:xfrm>
            <a:off x="1101090" y="3547110"/>
            <a:ext cx="9093835" cy="1463040"/>
          </a:xfrm>
          <a:prstGeom prst="rect">
            <a:avLst/>
          </a:prstGeom>
        </p:spPr>
        <p:txBody>
          <a:bodyPr wrap="square">
            <a:spAutoFit/>
          </a:bodyPr>
          <a:p>
            <a:pPr>
              <a:spcAft>
                <a:spcPct val="60000"/>
              </a:spcAft>
            </a:pPr>
            <a:r>
              <a:rPr sz="2300" b="1"/>
              <a:t>Step 2: Calculate total allocated memory</a:t>
            </a:r>
            <a:endParaRPr sz="2300" b="1"/>
          </a:p>
          <a:p>
            <a:r>
              <a:rPr sz="1600"/>
              <a:t>Each page contains 2,048 bytes.</a:t>
            </a:r>
            <a:endParaRPr sz="1600"/>
          </a:p>
          <a:p>
            <a:r>
              <a:rPr sz="1600"/>
              <a:t>Allocated memory=36</a:t>
            </a:r>
            <a:r>
              <a:rPr lang="en-US" sz="1600"/>
              <a:t> x </a:t>
            </a:r>
            <a:r>
              <a:rPr sz="1600"/>
              <a:t>2048 </a:t>
            </a:r>
            <a:endParaRPr sz="1600"/>
          </a:p>
          <a:p>
            <a:r>
              <a:rPr sz="1600"/>
              <a:t>73728</a:t>
            </a:r>
            <a:r>
              <a:rPr lang="en-US" sz="1600"/>
              <a:t> bytes</a:t>
            </a:r>
            <a:endParaRPr lang="en-US" sz="1600"/>
          </a:p>
        </p:txBody>
      </p:sp>
      <p:sp>
        <p:nvSpPr>
          <p:cNvPr id="6" name="Text Box 5"/>
          <p:cNvSpPr txBox="1"/>
          <p:nvPr/>
        </p:nvSpPr>
        <p:spPr>
          <a:xfrm>
            <a:off x="1101090" y="5034915"/>
            <a:ext cx="8703310" cy="1709420"/>
          </a:xfrm>
          <a:prstGeom prst="rect">
            <a:avLst/>
          </a:prstGeom>
        </p:spPr>
        <p:txBody>
          <a:bodyPr wrap="square">
            <a:spAutoFit/>
          </a:bodyPr>
          <a:p>
            <a:pPr>
              <a:spcAft>
                <a:spcPct val="60000"/>
              </a:spcAft>
            </a:pPr>
            <a:r>
              <a:rPr sz="2300" b="1"/>
              <a:t>Step 3: Calculate internal fragmentation</a:t>
            </a:r>
            <a:endParaRPr sz="2300" b="1"/>
          </a:p>
          <a:p>
            <a:r>
              <a:rPr sz="1600"/>
              <a:t>Formula:</a:t>
            </a:r>
            <a:endParaRPr sz="1600"/>
          </a:p>
          <a:p>
            <a:r>
              <a:rPr sz="1600"/>
              <a:t>Internal Fragmentation=Allocated memory-Process size</a:t>
            </a:r>
            <a:endParaRPr sz="1600"/>
          </a:p>
          <a:p>
            <a:r>
              <a:rPr sz="1600"/>
              <a:t>Substitute the values:</a:t>
            </a:r>
            <a:endParaRPr sz="1600"/>
          </a:p>
          <a:p>
            <a:r>
              <a:rPr sz="1600"/>
              <a:t>=73728-72766</a:t>
            </a:r>
            <a:r>
              <a:rPr lang="en-US" sz="1600"/>
              <a:t>=</a:t>
            </a:r>
            <a:r>
              <a:rPr sz="1600"/>
              <a:t>962</a:t>
            </a:r>
            <a:r>
              <a:rPr lang="en-US" sz="1600"/>
              <a:t> </a:t>
            </a:r>
            <a:r>
              <a:rPr sz="1600"/>
              <a:t>bytes</a:t>
            </a:r>
            <a:endParaRPr sz="16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800100" y="1042988"/>
            <a:ext cx="9629775" cy="523220"/>
          </a:xfrm>
          <a:prstGeom prst="rect">
            <a:avLst/>
          </a:prstGeom>
          <a:noFill/>
        </p:spPr>
        <p:txBody>
          <a:bodyPr wrap="square" rtlCol="0">
            <a:spAutoFit/>
          </a:bodyPr>
          <a:lstStyle/>
          <a:p>
            <a:r>
              <a:rPr lang="en-IN" sz="2800" b="1" dirty="0"/>
              <a:t>   PAGING EXAMPLE </a:t>
            </a:r>
            <a:endParaRPr lang="en-IN" sz="2800" b="1" dirty="0"/>
          </a:p>
        </p:txBody>
      </p:sp>
      <p:sp>
        <p:nvSpPr>
          <p:cNvPr id="7" name="TextBox 6"/>
          <p:cNvSpPr txBox="1"/>
          <p:nvPr/>
        </p:nvSpPr>
        <p:spPr>
          <a:xfrm>
            <a:off x="975455" y="1799272"/>
            <a:ext cx="10545890" cy="1938992"/>
          </a:xfrm>
          <a:prstGeom prst="rect">
            <a:avLst/>
          </a:prstGeom>
          <a:noFill/>
        </p:spPr>
        <p:txBody>
          <a:bodyPr wrap="square">
            <a:spAutoFit/>
          </a:bodyPr>
          <a:lstStyle/>
          <a:p>
            <a:r>
              <a:rPr lang="en-US" b="1" dirty="0"/>
              <a:t>Assignment Question III:</a:t>
            </a:r>
            <a:endParaRPr lang="en-US" b="1" dirty="0"/>
          </a:p>
          <a:p>
            <a:endParaRPr lang="en-US" dirty="0"/>
          </a:p>
          <a:p>
            <a:r>
              <a:rPr lang="en-US" b="1" dirty="0"/>
              <a:t>GIVEN DATA :</a:t>
            </a:r>
            <a:endParaRPr lang="en-US" b="1" dirty="0"/>
          </a:p>
          <a:p>
            <a:endParaRPr lang="en-US" dirty="0"/>
          </a:p>
          <a:p>
            <a:r>
              <a:rPr lang="en-US" sz="2400" b="0" i="0" dirty="0">
                <a:solidFill>
                  <a:srgbClr val="303030"/>
                </a:solidFill>
                <a:effectLst/>
              </a:rPr>
              <a:t>Calculate the size of memory if its address consists of 22 bits and the memory is 2-byte addressable.</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509905" y="1028065"/>
            <a:ext cx="10379710" cy="4124960"/>
          </a:xfrm>
          <a:prstGeom prst="rect">
            <a:avLst/>
          </a:prstGeom>
        </p:spPr>
        <p:txBody>
          <a:bodyPr wrap="square">
            <a:spAutoFit/>
          </a:bodyPr>
          <a:p>
            <a:pPr>
              <a:spcAft>
                <a:spcPct val="60000"/>
              </a:spcAft>
            </a:pPr>
            <a:r>
              <a:rPr sz="2200" b="1"/>
              <a:t>Step 1: Understand 22-bit addressing</a:t>
            </a:r>
            <a:endParaRPr sz="2200" b="1"/>
          </a:p>
          <a:p>
            <a:r>
              <a:rPr sz="1600"/>
              <a:t>An address consisting of 22 bits can represent:</a:t>
            </a:r>
            <a:endParaRPr sz="1600"/>
          </a:p>
          <a:p>
            <a:r>
              <a:rPr sz="1600"/>
              <a:t>2</a:t>
            </a:r>
            <a:r>
              <a:rPr sz="1600" baseline="30000"/>
              <a:t>22</a:t>
            </a:r>
            <a:r>
              <a:rPr sz="1600"/>
              <a:t>=4,194,304</a:t>
            </a:r>
            <a:r>
              <a:rPr lang="en-US" sz="1600"/>
              <a:t> </a:t>
            </a:r>
            <a:r>
              <a:rPr sz="1600"/>
              <a:t>addresses</a:t>
            </a:r>
            <a:endParaRPr sz="1600"/>
          </a:p>
          <a:p>
            <a:pPr>
              <a:spcAft>
                <a:spcPct val="60000"/>
              </a:spcAft>
            </a:pPr>
            <a:r>
              <a:rPr sz="2200" b="1"/>
              <a:t>Step 2: Understand 2-byte addressability</a:t>
            </a:r>
            <a:endParaRPr sz="2200" b="1"/>
          </a:p>
          <a:p>
            <a:r>
              <a:rPr sz="1600"/>
              <a:t>Each address refers to 2 bytes</a:t>
            </a:r>
            <a:r>
              <a:rPr lang="en-US" sz="1600"/>
              <a:t> </a:t>
            </a:r>
            <a:r>
              <a:rPr sz="1600"/>
              <a:t>of memory.</a:t>
            </a:r>
            <a:endParaRPr sz="1600"/>
          </a:p>
          <a:p>
            <a:r>
              <a:rPr sz="1600"/>
              <a:t>Therefor:</a:t>
            </a:r>
            <a:endParaRPr sz="1600"/>
          </a:p>
          <a:p>
            <a:r>
              <a:rPr sz="1600"/>
              <a:t>Memory size=2</a:t>
            </a:r>
            <a:r>
              <a:rPr sz="1600" baseline="30000"/>
              <a:t>22</a:t>
            </a:r>
            <a:r>
              <a:rPr lang="en-US" sz="1600"/>
              <a:t> x </a:t>
            </a:r>
            <a:r>
              <a:rPr sz="1600"/>
              <a:t>2</a:t>
            </a:r>
            <a:endParaRPr sz="1600"/>
          </a:p>
          <a:p>
            <a:r>
              <a:rPr sz="1600"/>
              <a:t>=2</a:t>
            </a:r>
            <a:r>
              <a:rPr sz="1600" baseline="30000"/>
              <a:t>22</a:t>
            </a:r>
            <a:r>
              <a:rPr lang="en-US" sz="1600" baseline="30000"/>
              <a:t> x </a:t>
            </a:r>
            <a:r>
              <a:rPr sz="1600"/>
              <a:t>2</a:t>
            </a:r>
            <a:r>
              <a:rPr sz="1600" baseline="30000"/>
              <a:t>1</a:t>
            </a:r>
            <a:r>
              <a:rPr sz="1600"/>
              <a:t>=2</a:t>
            </a:r>
            <a:r>
              <a:rPr sz="1600" baseline="30000"/>
              <a:t>23</a:t>
            </a:r>
            <a:r>
              <a:rPr sz="1600"/>
              <a:t> bytes</a:t>
            </a:r>
            <a:endParaRPr sz="1600"/>
          </a:p>
          <a:p>
            <a:pPr>
              <a:spcAft>
                <a:spcPct val="60000"/>
              </a:spcAft>
            </a:pPr>
            <a:r>
              <a:rPr sz="2200" b="1"/>
              <a:t>Step 3: Convert bytes to MB</a:t>
            </a:r>
            <a:endParaRPr sz="2200" b="1"/>
          </a:p>
          <a:p>
            <a:r>
              <a:rPr sz="1600"/>
              <a:t>2</a:t>
            </a:r>
            <a:r>
              <a:rPr sz="1600" baseline="30000"/>
              <a:t>23</a:t>
            </a:r>
            <a:r>
              <a:rPr sz="1600"/>
              <a:t>=8,388,608 bytes</a:t>
            </a:r>
            <a:endParaRPr sz="1600"/>
          </a:p>
          <a:p>
            <a:r>
              <a:rPr sz="1600"/>
              <a:t>Since 1 MB=2</a:t>
            </a:r>
            <a:r>
              <a:rPr sz="1600" baseline="30000"/>
              <a:t>20</a:t>
            </a:r>
            <a:r>
              <a:rPr sz="1600"/>
              <a:t> bytes</a:t>
            </a:r>
            <a:endParaRPr sz="1600"/>
          </a:p>
          <a:p>
            <a:r>
              <a:rPr sz="1600"/>
              <a:t>2</a:t>
            </a:r>
            <a:r>
              <a:rPr sz="1600" baseline="30000"/>
              <a:t>23</a:t>
            </a:r>
            <a:r>
              <a:rPr lang="en-US" sz="1600" baseline="30000"/>
              <a:t>/</a:t>
            </a:r>
            <a:r>
              <a:rPr sz="1600"/>
              <a:t>2</a:t>
            </a:r>
            <a:r>
              <a:rPr sz="1600" baseline="30000"/>
              <a:t>20</a:t>
            </a:r>
            <a:r>
              <a:rPr sz="1600"/>
              <a:t>=2</a:t>
            </a:r>
            <a:r>
              <a:rPr sz="1600" baseline="30000"/>
              <a:t>3</a:t>
            </a:r>
            <a:r>
              <a:rPr sz="1600"/>
              <a:t>=8 MB</a:t>
            </a:r>
            <a:endParaRPr sz="16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Segmentation</a:t>
            </a:r>
            <a:endParaRPr lang="en-IN" sz="2800" b="1" dirty="0"/>
          </a:p>
        </p:txBody>
      </p:sp>
      <p:pic>
        <p:nvPicPr>
          <p:cNvPr id="3" name="Picture 2"/>
          <p:cNvPicPr>
            <a:picLocks noChangeAspect="1"/>
          </p:cNvPicPr>
          <p:nvPr/>
        </p:nvPicPr>
        <p:blipFill>
          <a:blip r:embed="rId1"/>
          <a:stretch>
            <a:fillRect/>
          </a:stretch>
        </p:blipFill>
        <p:spPr>
          <a:xfrm>
            <a:off x="1214438" y="1909108"/>
            <a:ext cx="9913810" cy="4019468"/>
          </a:xfrm>
          <a:prstGeom prst="rect">
            <a:avLst/>
          </a:prstGeom>
        </p:spPr>
      </p:pic>
      <p:pic>
        <p:nvPicPr>
          <p:cNvPr id="7" name="Picture 6"/>
          <p:cNvPicPr/>
          <p:nvPr/>
        </p:nvPicPr>
        <p:blipFill>
          <a:blip r:embed="rId2">
            <a:extLst>
              <a:ext uri="{96DAC541-7B7A-43D3-8B79-37D633B846F1}">
                <asvg:svgBlip xmlns:asvg="http://schemas.microsoft.com/office/drawing/2016/SVG/main" r:embed="rId3"/>
              </a:ext>
            </a:extLst>
          </a:blip>
          <a:stretch>
            <a:fillRect/>
          </a:stretch>
        </p:blipFill>
        <p:spPr>
          <a:xfrm>
            <a:off x="7783830" y="2427605"/>
            <a:ext cx="4025265" cy="29819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042988"/>
            <a:ext cx="9244012" cy="523220"/>
          </a:xfrm>
          <a:prstGeom prst="rect">
            <a:avLst/>
          </a:prstGeom>
          <a:noFill/>
        </p:spPr>
        <p:txBody>
          <a:bodyPr wrap="square" rtlCol="0">
            <a:spAutoFit/>
          </a:bodyPr>
          <a:lstStyle/>
          <a:p>
            <a:r>
              <a:rPr lang="en-IN" sz="2800" b="1" dirty="0"/>
              <a:t>Segmentation: User view of Program</a:t>
            </a:r>
            <a:endParaRPr lang="en-IN" sz="2800" b="1" dirty="0"/>
          </a:p>
        </p:txBody>
      </p:sp>
      <p:pic>
        <p:nvPicPr>
          <p:cNvPr id="5" name="Picture 4"/>
          <p:cNvPicPr>
            <a:picLocks noChangeAspect="1"/>
          </p:cNvPicPr>
          <p:nvPr/>
        </p:nvPicPr>
        <p:blipFill>
          <a:blip r:embed="rId1"/>
          <a:stretch>
            <a:fillRect/>
          </a:stretch>
        </p:blipFill>
        <p:spPr>
          <a:xfrm>
            <a:off x="7943182" y="1614468"/>
            <a:ext cx="3694496" cy="4840644"/>
          </a:xfrm>
          <a:prstGeom prst="rect">
            <a:avLst/>
          </a:prstGeom>
        </p:spPr>
      </p:pic>
      <p:sp>
        <p:nvSpPr>
          <p:cNvPr id="3" name="Text Box 2"/>
          <p:cNvSpPr txBox="1"/>
          <p:nvPr/>
        </p:nvSpPr>
        <p:spPr>
          <a:xfrm>
            <a:off x="661670" y="1614170"/>
            <a:ext cx="7281545" cy="5015865"/>
          </a:xfrm>
          <a:prstGeom prst="rect">
            <a:avLst/>
          </a:prstGeom>
        </p:spPr>
        <p:txBody>
          <a:bodyPr wrap="square">
            <a:spAutoFit/>
          </a:bodyPr>
          <a:p>
            <a:r>
              <a:rPr sz="1600"/>
              <a:t>This slide illustrates how a programmer views a program as separate logical units rather than one continuous block.</a:t>
            </a:r>
            <a:endParaRPr sz="1600"/>
          </a:p>
          <a:p>
            <a:endParaRPr sz="1600"/>
          </a:p>
          <a:p>
            <a:r>
              <a:rPr sz="1600"/>
              <a:t>Imagine a program containing:</a:t>
            </a:r>
            <a:endParaRPr sz="1600"/>
          </a:p>
          <a:p>
            <a:endParaRPr sz="1600"/>
          </a:p>
          <a:p>
            <a:r>
              <a:rPr sz="1600"/>
              <a:t>Segment 0: Code</a:t>
            </a:r>
            <a:endParaRPr sz="1600"/>
          </a:p>
          <a:p>
            <a:r>
              <a:rPr sz="1600"/>
              <a:t>Instructions to execute</a:t>
            </a:r>
            <a:endParaRPr sz="1600"/>
          </a:p>
          <a:p>
            <a:endParaRPr sz="1600"/>
          </a:p>
          <a:p>
            <a:r>
              <a:rPr sz="1600"/>
              <a:t>Segment 1: Data</a:t>
            </a:r>
            <a:endParaRPr sz="1600"/>
          </a:p>
          <a:p>
            <a:r>
              <a:rPr sz="1600"/>
              <a:t>Variables and stored values</a:t>
            </a:r>
            <a:endParaRPr sz="1600"/>
          </a:p>
          <a:p>
            <a:endParaRPr sz="1600"/>
          </a:p>
          <a:p>
            <a:r>
              <a:rPr sz="1600"/>
              <a:t>Segment 2: Stack</a:t>
            </a:r>
            <a:endParaRPr sz="1600"/>
          </a:p>
          <a:p>
            <a:r>
              <a:rPr sz="1600"/>
              <a:t>Function calls and local variables</a:t>
            </a:r>
            <a:endParaRPr sz="1600"/>
          </a:p>
          <a:p>
            <a:endParaRPr sz="1600"/>
          </a:p>
          <a:p>
            <a:r>
              <a:rPr sz="1600"/>
              <a:t>Segment 3: Heap</a:t>
            </a:r>
            <a:endParaRPr sz="1600"/>
          </a:p>
          <a:p>
            <a:r>
              <a:rPr sz="1600"/>
              <a:t>Dynamically allocated memory</a:t>
            </a:r>
            <a:endParaRPr sz="1600"/>
          </a:p>
          <a:p>
            <a:endParaRPr sz="1600"/>
          </a:p>
          <a:p>
            <a:r>
              <a:rPr sz="1600"/>
              <a:t>Each segment represents a meaningful part of the program. The operating system can map these segments to different locations in physical memory.</a:t>
            </a:r>
            <a:endParaRPr sz="16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Segmentation: User view of Program</a:t>
            </a:r>
            <a:endParaRPr lang="en-IN" sz="2800" b="1" dirty="0"/>
          </a:p>
        </p:txBody>
      </p:sp>
      <p:sp>
        <p:nvSpPr>
          <p:cNvPr id="7" name="Oval 3"/>
          <p:cNvSpPr>
            <a:spLocks noChangeArrowheads="1"/>
          </p:cNvSpPr>
          <p:nvPr/>
        </p:nvSpPr>
        <p:spPr bwMode="auto">
          <a:xfrm>
            <a:off x="1557338" y="1981200"/>
            <a:ext cx="2895600" cy="3962400"/>
          </a:xfrm>
          <a:prstGeom prst="ellipse">
            <a:avLst/>
          </a:prstGeom>
          <a:solidFill>
            <a:schemeClr val="bg1"/>
          </a:solidFill>
          <a:ln w="9525">
            <a:solidFill>
              <a:schemeClr val="tx1"/>
            </a:solidFill>
            <a:round/>
          </a:ln>
        </p:spPr>
        <p:txBody>
          <a:bodyPr wrap="none" lIns="91435" tIns="45718" rIns="91435" bIns="45718"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endParaRPr lang="en-US" altLang="en-US"/>
          </a:p>
        </p:txBody>
      </p:sp>
      <p:sp>
        <p:nvSpPr>
          <p:cNvPr id="9" name="Rectangle 4"/>
          <p:cNvSpPr>
            <a:spLocks noChangeArrowheads="1"/>
          </p:cNvSpPr>
          <p:nvPr/>
        </p:nvSpPr>
        <p:spPr bwMode="auto">
          <a:xfrm>
            <a:off x="1971675" y="2743200"/>
            <a:ext cx="990600" cy="533400"/>
          </a:xfrm>
          <a:prstGeom prst="rect">
            <a:avLst/>
          </a:prstGeom>
          <a:solidFill>
            <a:schemeClr val="bg1"/>
          </a:solidFill>
          <a:ln w="9525">
            <a:solidFill>
              <a:schemeClr val="tx1"/>
            </a:solidFill>
            <a:miter lim="800000"/>
          </a:ln>
        </p:spPr>
        <p:txBody>
          <a:bodyPr wrap="none" lIns="91435" tIns="45718" rIns="91435" bIns="45718"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r>
              <a:rPr lang="en-US" altLang="en-US" dirty="0">
                <a:latin typeface="Helvetica" pitchFamily="34" charset="0"/>
              </a:rPr>
              <a:t>1</a:t>
            </a:r>
            <a:endParaRPr lang="en-US" altLang="en-US" dirty="0">
              <a:latin typeface="Helvetica" pitchFamily="34" charset="0"/>
            </a:endParaRPr>
          </a:p>
        </p:txBody>
      </p:sp>
      <p:sp>
        <p:nvSpPr>
          <p:cNvPr id="10" name="Rectangle 6"/>
          <p:cNvSpPr>
            <a:spLocks noChangeArrowheads="1"/>
          </p:cNvSpPr>
          <p:nvPr/>
        </p:nvSpPr>
        <p:spPr bwMode="auto">
          <a:xfrm>
            <a:off x="3328987" y="3581400"/>
            <a:ext cx="914400" cy="381000"/>
          </a:xfrm>
          <a:prstGeom prst="rect">
            <a:avLst/>
          </a:prstGeom>
          <a:solidFill>
            <a:schemeClr val="bg1"/>
          </a:solidFill>
          <a:ln w="9525">
            <a:solidFill>
              <a:schemeClr val="tx1"/>
            </a:solidFill>
            <a:miter lim="800000"/>
          </a:ln>
        </p:spPr>
        <p:txBody>
          <a:bodyPr wrap="none" lIns="91435" tIns="45718" rIns="91435" bIns="45718"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r>
              <a:rPr lang="en-US" altLang="en-US">
                <a:latin typeface="Helvetica" pitchFamily="34" charset="0"/>
              </a:rPr>
              <a:t>2</a:t>
            </a:r>
            <a:endParaRPr lang="en-US" altLang="en-US">
              <a:latin typeface="Helvetica" pitchFamily="34" charset="0"/>
            </a:endParaRPr>
          </a:p>
        </p:txBody>
      </p:sp>
      <p:sp>
        <p:nvSpPr>
          <p:cNvPr id="11" name="Rectangle 5"/>
          <p:cNvSpPr>
            <a:spLocks noChangeArrowheads="1"/>
          </p:cNvSpPr>
          <p:nvPr/>
        </p:nvSpPr>
        <p:spPr bwMode="auto">
          <a:xfrm>
            <a:off x="1862137" y="3581400"/>
            <a:ext cx="914400" cy="914400"/>
          </a:xfrm>
          <a:prstGeom prst="rect">
            <a:avLst/>
          </a:prstGeom>
          <a:solidFill>
            <a:schemeClr val="bg1"/>
          </a:solidFill>
          <a:ln w="9525">
            <a:solidFill>
              <a:schemeClr val="tx1"/>
            </a:solidFill>
            <a:miter lim="800000"/>
          </a:ln>
        </p:spPr>
        <p:txBody>
          <a:bodyPr wrap="none" lIns="91435" tIns="45718" rIns="91435" bIns="45718"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r>
              <a:rPr lang="en-US" altLang="en-US">
                <a:latin typeface="Helvetica" pitchFamily="34" charset="0"/>
              </a:rPr>
              <a:t>3</a:t>
            </a:r>
            <a:endParaRPr lang="en-US" altLang="en-US">
              <a:latin typeface="Helvetica" pitchFamily="34" charset="0"/>
            </a:endParaRPr>
          </a:p>
        </p:txBody>
      </p:sp>
      <p:sp>
        <p:nvSpPr>
          <p:cNvPr id="12" name="Rectangle 7"/>
          <p:cNvSpPr>
            <a:spLocks noChangeArrowheads="1"/>
          </p:cNvSpPr>
          <p:nvPr/>
        </p:nvSpPr>
        <p:spPr bwMode="auto">
          <a:xfrm>
            <a:off x="3081336" y="4229100"/>
            <a:ext cx="914400" cy="533400"/>
          </a:xfrm>
          <a:prstGeom prst="rect">
            <a:avLst/>
          </a:prstGeom>
          <a:solidFill>
            <a:schemeClr val="bg1"/>
          </a:solidFill>
          <a:ln w="9525">
            <a:solidFill>
              <a:schemeClr val="tx1"/>
            </a:solidFill>
            <a:miter lim="800000"/>
          </a:ln>
        </p:spPr>
        <p:txBody>
          <a:bodyPr wrap="none" lIns="91435" tIns="45718" rIns="91435" bIns="45718"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r>
              <a:rPr lang="en-US" altLang="en-US">
                <a:latin typeface="Helvetica" pitchFamily="34" charset="0"/>
              </a:rPr>
              <a:t>4</a:t>
            </a:r>
            <a:endParaRPr lang="en-US" altLang="en-US">
              <a:latin typeface="Helvetica" pitchFamily="34" charset="0"/>
            </a:endParaRPr>
          </a:p>
        </p:txBody>
      </p:sp>
      <p:grpSp>
        <p:nvGrpSpPr>
          <p:cNvPr id="13" name="Group 24"/>
          <p:cNvGrpSpPr/>
          <p:nvPr/>
        </p:nvGrpSpPr>
        <p:grpSpPr bwMode="auto">
          <a:xfrm>
            <a:off x="6981825" y="1909108"/>
            <a:ext cx="1143000" cy="3962400"/>
            <a:chOff x="3888" y="1056"/>
            <a:chExt cx="720" cy="2496"/>
          </a:xfrm>
        </p:grpSpPr>
        <p:grpSp>
          <p:nvGrpSpPr>
            <p:cNvPr id="14" name="Group 11"/>
            <p:cNvGrpSpPr/>
            <p:nvPr/>
          </p:nvGrpSpPr>
          <p:grpSpPr bwMode="auto">
            <a:xfrm>
              <a:off x="3888" y="1056"/>
              <a:ext cx="720" cy="672"/>
              <a:chOff x="3888" y="1056"/>
              <a:chExt cx="720" cy="672"/>
            </a:xfrm>
          </p:grpSpPr>
          <p:sp>
            <p:nvSpPr>
              <p:cNvPr id="25" name="Rectangle 8"/>
              <p:cNvSpPr>
                <a:spLocks noChangeArrowheads="1"/>
              </p:cNvSpPr>
              <p:nvPr/>
            </p:nvSpPr>
            <p:spPr bwMode="auto">
              <a:xfrm>
                <a:off x="3888" y="1056"/>
                <a:ext cx="720" cy="672"/>
              </a:xfrm>
              <a:prstGeom prst="rect">
                <a:avLst/>
              </a:prstGeom>
              <a:solidFill>
                <a:schemeClr val="bg1"/>
              </a:solidFill>
              <a:ln w="9525">
                <a:solidFill>
                  <a:schemeClr val="tx1"/>
                </a:solidFill>
                <a:miter lim="800000"/>
              </a:ln>
            </p:spPr>
            <p:txBody>
              <a:bodyPr wrap="none"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endParaRPr lang="en-US" altLang="en-US"/>
              </a:p>
            </p:txBody>
          </p:sp>
          <p:sp>
            <p:nvSpPr>
              <p:cNvPr id="26" name="Line 9"/>
              <p:cNvSpPr>
                <a:spLocks noChangeShapeType="1"/>
              </p:cNvSpPr>
              <p:nvPr/>
            </p:nvSpPr>
            <p:spPr bwMode="auto">
              <a:xfrm>
                <a:off x="3888" y="1392"/>
                <a:ext cx="7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IN"/>
              </a:p>
            </p:txBody>
          </p:sp>
        </p:grpSp>
        <p:grpSp>
          <p:nvGrpSpPr>
            <p:cNvPr id="15" name="Group 12"/>
            <p:cNvGrpSpPr/>
            <p:nvPr/>
          </p:nvGrpSpPr>
          <p:grpSpPr bwMode="auto">
            <a:xfrm>
              <a:off x="3888" y="1728"/>
              <a:ext cx="720" cy="672"/>
              <a:chOff x="3888" y="1056"/>
              <a:chExt cx="720" cy="672"/>
            </a:xfrm>
          </p:grpSpPr>
          <p:sp>
            <p:nvSpPr>
              <p:cNvPr id="23" name="Rectangle 13"/>
              <p:cNvSpPr>
                <a:spLocks noChangeArrowheads="1"/>
              </p:cNvSpPr>
              <p:nvPr/>
            </p:nvSpPr>
            <p:spPr bwMode="auto">
              <a:xfrm>
                <a:off x="3888" y="1056"/>
                <a:ext cx="720" cy="672"/>
              </a:xfrm>
              <a:prstGeom prst="rect">
                <a:avLst/>
              </a:prstGeom>
              <a:solidFill>
                <a:srgbClr val="DDDDDD"/>
              </a:solidFill>
              <a:ln w="9525">
                <a:solidFill>
                  <a:schemeClr val="tx1"/>
                </a:solidFill>
                <a:miter lim="800000"/>
              </a:ln>
            </p:spPr>
            <p:txBody>
              <a:bodyPr wrap="none"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endParaRPr lang="en-US" altLang="en-US"/>
              </a:p>
            </p:txBody>
          </p:sp>
          <p:sp>
            <p:nvSpPr>
              <p:cNvPr id="24" name="Line 14"/>
              <p:cNvSpPr>
                <a:spLocks noChangeShapeType="1"/>
              </p:cNvSpPr>
              <p:nvPr/>
            </p:nvSpPr>
            <p:spPr bwMode="auto">
              <a:xfrm>
                <a:off x="3888" y="1392"/>
                <a:ext cx="7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IN"/>
              </a:p>
            </p:txBody>
          </p:sp>
        </p:grpSp>
        <p:sp>
          <p:nvSpPr>
            <p:cNvPr id="16" name="Text Box 15"/>
            <p:cNvSpPr txBox="1">
              <a:spLocks noChangeArrowheads="1"/>
            </p:cNvSpPr>
            <p:nvPr/>
          </p:nvSpPr>
          <p:spPr bwMode="auto">
            <a:xfrm>
              <a:off x="4125" y="1132"/>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spcBef>
                  <a:spcPct val="50000"/>
                </a:spcBef>
              </a:pPr>
              <a:r>
                <a:rPr lang="en-US" altLang="en-US">
                  <a:latin typeface="Helvetica" pitchFamily="34" charset="0"/>
                </a:rPr>
                <a:t>1</a:t>
              </a:r>
              <a:endParaRPr lang="en-US" altLang="en-US">
                <a:latin typeface="Helvetica" pitchFamily="34" charset="0"/>
              </a:endParaRPr>
            </a:p>
          </p:txBody>
        </p:sp>
        <p:sp>
          <p:nvSpPr>
            <p:cNvPr id="17" name="Text Box 16"/>
            <p:cNvSpPr txBox="1">
              <a:spLocks noChangeArrowheads="1"/>
            </p:cNvSpPr>
            <p:nvPr/>
          </p:nvSpPr>
          <p:spPr bwMode="auto">
            <a:xfrm>
              <a:off x="4127" y="1439"/>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spcBef>
                  <a:spcPct val="50000"/>
                </a:spcBef>
              </a:pPr>
              <a:r>
                <a:rPr lang="en-US" altLang="en-US">
                  <a:latin typeface="Helvetica" pitchFamily="34" charset="0"/>
                </a:rPr>
                <a:t>4</a:t>
              </a:r>
              <a:endParaRPr lang="en-US" altLang="en-US">
                <a:latin typeface="Helvetica" pitchFamily="34" charset="0"/>
              </a:endParaRPr>
            </a:p>
          </p:txBody>
        </p:sp>
        <p:sp>
          <p:nvSpPr>
            <p:cNvPr id="18" name="Rectangle 17"/>
            <p:cNvSpPr>
              <a:spLocks noChangeArrowheads="1"/>
            </p:cNvSpPr>
            <p:nvPr/>
          </p:nvSpPr>
          <p:spPr bwMode="auto">
            <a:xfrm>
              <a:off x="3888" y="2400"/>
              <a:ext cx="720" cy="912"/>
            </a:xfrm>
            <a:prstGeom prst="rect">
              <a:avLst/>
            </a:prstGeom>
            <a:solidFill>
              <a:schemeClr val="bg1"/>
            </a:solidFill>
            <a:ln w="9525">
              <a:solidFill>
                <a:schemeClr val="tx1"/>
              </a:solidFill>
              <a:miter lim="800000"/>
            </a:ln>
          </p:spPr>
          <p:txBody>
            <a:bodyPr wrap="none"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endParaRPr lang="en-US" altLang="en-US"/>
            </a:p>
          </p:txBody>
        </p:sp>
        <p:sp>
          <p:nvSpPr>
            <p:cNvPr id="19" name="Rectangle 18"/>
            <p:cNvSpPr>
              <a:spLocks noChangeArrowheads="1"/>
            </p:cNvSpPr>
            <p:nvPr/>
          </p:nvSpPr>
          <p:spPr bwMode="auto">
            <a:xfrm>
              <a:off x="3888" y="3312"/>
              <a:ext cx="720" cy="240"/>
            </a:xfrm>
            <a:prstGeom prst="rect">
              <a:avLst/>
            </a:prstGeom>
            <a:solidFill>
              <a:srgbClr val="DDDDDD"/>
            </a:solidFill>
            <a:ln w="9525">
              <a:solidFill>
                <a:schemeClr val="tx1"/>
              </a:solidFill>
              <a:miter lim="800000"/>
            </a:ln>
          </p:spPr>
          <p:txBody>
            <a:bodyPr wrap="none" anchor="ct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endParaRPr lang="en-US" altLang="en-US"/>
            </a:p>
          </p:txBody>
        </p:sp>
        <p:sp>
          <p:nvSpPr>
            <p:cNvPr id="20" name="Line 19"/>
            <p:cNvSpPr>
              <a:spLocks noChangeShapeType="1"/>
            </p:cNvSpPr>
            <p:nvPr/>
          </p:nvSpPr>
          <p:spPr bwMode="auto">
            <a:xfrm>
              <a:off x="3888" y="2640"/>
              <a:ext cx="720"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en-IN"/>
            </a:p>
          </p:txBody>
        </p:sp>
        <p:sp>
          <p:nvSpPr>
            <p:cNvPr id="21" name="Text Box 20"/>
            <p:cNvSpPr txBox="1">
              <a:spLocks noChangeArrowheads="1"/>
            </p:cNvSpPr>
            <p:nvPr/>
          </p:nvSpPr>
          <p:spPr bwMode="auto">
            <a:xfrm>
              <a:off x="4127" y="2428"/>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spcBef>
                  <a:spcPct val="50000"/>
                </a:spcBef>
              </a:pPr>
              <a:r>
                <a:rPr lang="en-US" altLang="en-US">
                  <a:latin typeface="Helvetica" pitchFamily="34" charset="0"/>
                </a:rPr>
                <a:t>2</a:t>
              </a:r>
              <a:endParaRPr lang="en-US" altLang="en-US">
                <a:latin typeface="Helvetica" pitchFamily="34" charset="0"/>
              </a:endParaRPr>
            </a:p>
          </p:txBody>
        </p:sp>
        <p:sp>
          <p:nvSpPr>
            <p:cNvPr id="22" name="Text Box 21"/>
            <p:cNvSpPr txBox="1">
              <a:spLocks noChangeArrowheads="1"/>
            </p:cNvSpPr>
            <p:nvPr/>
          </p:nvSpPr>
          <p:spPr bwMode="auto">
            <a:xfrm>
              <a:off x="4127" y="2888"/>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spcBef>
                  <a:spcPct val="50000"/>
                </a:spcBef>
              </a:pPr>
              <a:r>
                <a:rPr lang="en-US" altLang="en-US">
                  <a:latin typeface="Helvetica" pitchFamily="34" charset="0"/>
                </a:rPr>
                <a:t>3</a:t>
              </a:r>
              <a:endParaRPr lang="en-US" altLang="en-US">
                <a:latin typeface="Helvetica" pitchFamily="34" charset="0"/>
              </a:endParaRPr>
            </a:p>
          </p:txBody>
        </p:sp>
      </p:grpSp>
      <p:sp>
        <p:nvSpPr>
          <p:cNvPr id="27" name="Text Box 22"/>
          <p:cNvSpPr txBox="1">
            <a:spLocks noChangeArrowheads="1"/>
          </p:cNvSpPr>
          <p:nvPr/>
        </p:nvSpPr>
        <p:spPr bwMode="auto">
          <a:xfrm>
            <a:off x="2319337" y="6112668"/>
            <a:ext cx="13779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spcBef>
                <a:spcPct val="50000"/>
              </a:spcBef>
            </a:pPr>
            <a:r>
              <a:rPr lang="en-US" altLang="en-US" dirty="0">
                <a:latin typeface="Helvetica" pitchFamily="34" charset="0"/>
              </a:rPr>
              <a:t>user space </a:t>
            </a:r>
            <a:endParaRPr lang="en-US" altLang="en-US" dirty="0">
              <a:latin typeface="Helvetica" pitchFamily="34" charset="0"/>
            </a:endParaRPr>
          </a:p>
        </p:txBody>
      </p:sp>
      <p:sp>
        <p:nvSpPr>
          <p:cNvPr id="28" name="Text Box 23"/>
          <p:cNvSpPr txBox="1">
            <a:spLocks noChangeArrowheads="1"/>
          </p:cNvSpPr>
          <p:nvPr/>
        </p:nvSpPr>
        <p:spPr bwMode="auto">
          <a:xfrm>
            <a:off x="6215857" y="6154082"/>
            <a:ext cx="2597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nchor="ctr">
            <a:spAutoFit/>
          </a:bodyPr>
          <a:lstStyle>
            <a:lvl1pPr>
              <a:defRPr>
                <a:solidFill>
                  <a:schemeClr val="tx1"/>
                </a:solidFill>
                <a:latin typeface="Verdana" panose="020B0804030504040204" pitchFamily="34" charset="0"/>
                <a:ea typeface="MS PGothic" panose="020B0600070205080204" pitchFamily="34" charset="-128"/>
              </a:defRPr>
            </a:lvl1pPr>
            <a:lvl2pPr marL="742950" indent="-285750">
              <a:defRPr>
                <a:solidFill>
                  <a:schemeClr val="tx1"/>
                </a:solidFill>
                <a:latin typeface="Verdana" panose="020B0804030504040204" pitchFamily="34" charset="0"/>
                <a:ea typeface="MS PGothic" panose="020B0600070205080204" pitchFamily="34" charset="-128"/>
              </a:defRPr>
            </a:lvl2pPr>
            <a:lvl3pPr marL="1143000" indent="-228600">
              <a:defRPr>
                <a:solidFill>
                  <a:schemeClr val="tx1"/>
                </a:solidFill>
                <a:latin typeface="Verdana" panose="020B0804030504040204" pitchFamily="34" charset="0"/>
                <a:ea typeface="MS PGothic" panose="020B0600070205080204" pitchFamily="34" charset="-128"/>
              </a:defRPr>
            </a:lvl3pPr>
            <a:lvl4pPr marL="1600200" indent="-228600">
              <a:defRPr>
                <a:solidFill>
                  <a:schemeClr val="tx1"/>
                </a:solidFill>
                <a:latin typeface="Verdana" panose="020B0804030504040204" pitchFamily="34" charset="0"/>
                <a:ea typeface="MS PGothic" panose="020B0600070205080204" pitchFamily="34" charset="-128"/>
              </a:defRPr>
            </a:lvl4pPr>
            <a:lvl5pPr marL="2057400" indent="-228600">
              <a:defRPr>
                <a:solidFill>
                  <a:schemeClr val="tx1"/>
                </a:solidFill>
                <a:latin typeface="Verdana" panose="020B08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804030504040204" pitchFamily="34" charset="0"/>
                <a:ea typeface="MS PGothic" panose="020B0600070205080204" pitchFamily="34" charset="-128"/>
              </a:defRPr>
            </a:lvl9pPr>
          </a:lstStyle>
          <a:p>
            <a:pPr algn="ctr">
              <a:spcBef>
                <a:spcPct val="50000"/>
              </a:spcBef>
            </a:pPr>
            <a:r>
              <a:rPr lang="en-US" altLang="en-US" dirty="0">
                <a:latin typeface="Helvetica" pitchFamily="34" charset="0"/>
              </a:rPr>
              <a:t>physical memory space</a:t>
            </a:r>
            <a:endParaRPr lang="en-US" altLang="en-US" dirty="0">
              <a:latin typeface="Helvetica"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Segmentation:</a:t>
            </a:r>
            <a:endParaRPr lang="en-IN" sz="2800" b="1" dirty="0"/>
          </a:p>
        </p:txBody>
      </p:sp>
      <p:sp>
        <p:nvSpPr>
          <p:cNvPr id="3" name="Rectangle 3"/>
          <p:cNvSpPr txBox="1">
            <a:spLocks noChangeArrowheads="1"/>
          </p:cNvSpPr>
          <p:nvPr/>
        </p:nvSpPr>
        <p:spPr>
          <a:xfrm>
            <a:off x="1069848" y="1790701"/>
            <a:ext cx="10874502" cy="5053012"/>
          </a:xfrm>
          <a:prstGeom prst="rect">
            <a:avLst/>
          </a:prstGeom>
        </p:spPr>
        <p:txBody>
          <a:bodyPr vert="horz" lIns="91440" tIns="45720" rIns="91440" bIns="45720" rtlCol="0">
            <a:normAutofit/>
          </a:bodyPr>
          <a:lstStyle>
            <a:lvl1pPr marL="182880" indent="-182880" algn="l" defTabSz="914400" rtl="0" eaLnBrk="1" latinLnBrk="0" hangingPunct="1">
              <a:lnSpc>
                <a:spcPct val="90000"/>
              </a:lnSpc>
              <a:spcBef>
                <a:spcPts val="1200"/>
              </a:spcBef>
              <a:buClr>
                <a:schemeClr val="accent1">
                  <a:lumMod val="75000"/>
                </a:schemeClr>
              </a:buClr>
              <a:buSzPct val="85000"/>
              <a:buFont typeface="Wingdings" panose="05000000000000000000"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6pPr>
            <a:lvl7pPr marL="1899920"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7pPr>
            <a:lvl8pPr marL="220027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8pPr>
            <a:lvl9pPr marL="2499995" indent="-228600" algn="l" defTabSz="914400" rtl="0" eaLnBrk="1" latinLnBrk="0" hangingPunct="1">
              <a:lnSpc>
                <a:spcPct val="90000"/>
              </a:lnSpc>
              <a:spcBef>
                <a:spcPts val="400"/>
              </a:spcBef>
              <a:spcAft>
                <a:spcPts val="200"/>
              </a:spcAft>
              <a:buClr>
                <a:schemeClr val="accent1">
                  <a:lumMod val="75000"/>
                </a:schemeClr>
              </a:buClr>
              <a:buSzPct val="85000"/>
              <a:buFont typeface="Wingdings" panose="05000000000000000000" pitchFamily="2" charset="2"/>
              <a:buChar char="§"/>
              <a:defRPr sz="1600" kern="1200">
                <a:solidFill>
                  <a:schemeClr val="tx1"/>
                </a:solidFill>
                <a:latin typeface="+mn-lt"/>
                <a:ea typeface="+mn-ea"/>
                <a:cs typeface="+mn-cs"/>
              </a:defRPr>
            </a:lvl9pPr>
          </a:lstStyle>
          <a:p>
            <a:pPr>
              <a:tabLst>
                <a:tab pos="1828800" algn="l"/>
                <a:tab pos="2855595" algn="ctr"/>
              </a:tabLst>
            </a:pPr>
            <a:r>
              <a:rPr lang="en-US" altLang="en-US"/>
              <a:t>Logical address consists of a two tuple:</a:t>
            </a:r>
            <a:endParaRPr lang="en-US" altLang="en-US"/>
          </a:p>
          <a:p>
            <a:pPr>
              <a:buFont typeface="Monotype Sorts" pitchFamily="-84" charset="2"/>
              <a:buNone/>
              <a:tabLst>
                <a:tab pos="1828800" algn="l"/>
                <a:tab pos="2855595" algn="ctr"/>
              </a:tabLst>
            </a:pPr>
            <a:r>
              <a:rPr lang="en-US" altLang="en-US"/>
              <a:t>		&lt;segment-number, offset&gt;,</a:t>
            </a:r>
            <a:endParaRPr lang="en-US" altLang="en-US"/>
          </a:p>
          <a:p>
            <a:pPr>
              <a:buFont typeface="Monotype Sorts" pitchFamily="-84" charset="2"/>
              <a:buNone/>
              <a:tabLst>
                <a:tab pos="1828800" algn="l"/>
                <a:tab pos="2855595" algn="ctr"/>
              </a:tabLst>
            </a:pPr>
            <a:endParaRPr lang="en-US" altLang="en-US" sz="800"/>
          </a:p>
          <a:p>
            <a:pPr>
              <a:tabLst>
                <a:tab pos="1828800" algn="l"/>
                <a:tab pos="2855595" algn="ctr"/>
              </a:tabLst>
            </a:pPr>
            <a:r>
              <a:rPr lang="en-US" altLang="en-US" b="1">
                <a:solidFill>
                  <a:srgbClr val="3366FF"/>
                </a:solidFill>
              </a:rPr>
              <a:t>Segment table</a:t>
            </a:r>
            <a:r>
              <a:rPr lang="en-US" altLang="en-US">
                <a:solidFill>
                  <a:srgbClr val="3366FF"/>
                </a:solidFill>
              </a:rPr>
              <a:t> </a:t>
            </a:r>
            <a:r>
              <a:rPr lang="en-US" altLang="en-US"/>
              <a:t>– maps two-dimensional physical addresses; each table entry has:</a:t>
            </a:r>
            <a:endParaRPr lang="en-US" altLang="en-US"/>
          </a:p>
          <a:p>
            <a:pPr lvl="1">
              <a:tabLst>
                <a:tab pos="1828800" algn="l"/>
                <a:tab pos="2855595" algn="ctr"/>
              </a:tabLst>
            </a:pPr>
            <a:r>
              <a:rPr lang="en-US" altLang="en-US" b="1">
                <a:solidFill>
                  <a:srgbClr val="3366FF"/>
                </a:solidFill>
              </a:rPr>
              <a:t>base</a:t>
            </a:r>
            <a:r>
              <a:rPr lang="en-US" altLang="en-US">
                <a:solidFill>
                  <a:srgbClr val="3366FF"/>
                </a:solidFill>
              </a:rPr>
              <a:t> </a:t>
            </a:r>
            <a:r>
              <a:rPr lang="en-US" altLang="en-US"/>
              <a:t>– contains the starting physical address where the segments reside in memory</a:t>
            </a:r>
            <a:endParaRPr lang="en-US" altLang="en-US"/>
          </a:p>
          <a:p>
            <a:pPr lvl="1">
              <a:tabLst>
                <a:tab pos="1828800" algn="l"/>
                <a:tab pos="2855595" algn="ctr"/>
              </a:tabLst>
            </a:pPr>
            <a:r>
              <a:rPr lang="en-US" altLang="en-US" b="1">
                <a:solidFill>
                  <a:srgbClr val="3366FF"/>
                </a:solidFill>
              </a:rPr>
              <a:t>limit</a:t>
            </a:r>
            <a:r>
              <a:rPr lang="en-US" altLang="en-US">
                <a:solidFill>
                  <a:srgbClr val="3366FF"/>
                </a:solidFill>
              </a:rPr>
              <a:t> </a:t>
            </a:r>
            <a:r>
              <a:rPr lang="en-US" altLang="en-US"/>
              <a:t>– specifies the length of the segment</a:t>
            </a:r>
            <a:endParaRPr lang="en-US" altLang="en-US"/>
          </a:p>
          <a:p>
            <a:pPr lvl="1">
              <a:tabLst>
                <a:tab pos="1828800" algn="l"/>
                <a:tab pos="2855595" algn="ctr"/>
              </a:tabLst>
            </a:pPr>
            <a:endParaRPr lang="en-US" altLang="en-US" sz="800"/>
          </a:p>
          <a:p>
            <a:pPr>
              <a:tabLst>
                <a:tab pos="1828800" algn="l"/>
                <a:tab pos="2855595" algn="ctr"/>
              </a:tabLst>
            </a:pPr>
            <a:r>
              <a:rPr lang="en-US" altLang="en-US" b="1">
                <a:solidFill>
                  <a:srgbClr val="3366FF"/>
                </a:solidFill>
              </a:rPr>
              <a:t>Segment-table base register (STBR)</a:t>
            </a:r>
            <a:r>
              <a:rPr lang="en-US" altLang="en-US">
                <a:solidFill>
                  <a:srgbClr val="3366FF"/>
                </a:solidFill>
              </a:rPr>
              <a:t> </a:t>
            </a:r>
            <a:r>
              <a:rPr lang="en-US" altLang="en-US"/>
              <a:t>points to the segment table</a:t>
            </a:r>
            <a:r>
              <a:rPr lang="ja-JP" altLang="en-US"/>
              <a:t>’</a:t>
            </a:r>
            <a:r>
              <a:rPr lang="en-US" altLang="ja-JP"/>
              <a:t>s location in memory</a:t>
            </a:r>
            <a:endParaRPr lang="en-US" altLang="ja-JP"/>
          </a:p>
          <a:p>
            <a:pPr>
              <a:tabLst>
                <a:tab pos="1828800" algn="l"/>
                <a:tab pos="2855595" algn="ctr"/>
              </a:tabLst>
            </a:pPr>
            <a:endParaRPr lang="en-US" altLang="en-US" sz="800"/>
          </a:p>
          <a:p>
            <a:pPr>
              <a:tabLst>
                <a:tab pos="1828800" algn="l"/>
                <a:tab pos="2855595" algn="ctr"/>
              </a:tabLst>
            </a:pPr>
            <a:r>
              <a:rPr lang="en-US" altLang="en-US" b="1">
                <a:solidFill>
                  <a:srgbClr val="3366FF"/>
                </a:solidFill>
              </a:rPr>
              <a:t>Segment-table length register (STLR)</a:t>
            </a:r>
            <a:r>
              <a:rPr lang="en-US" altLang="en-US">
                <a:solidFill>
                  <a:srgbClr val="3366FF"/>
                </a:solidFill>
              </a:rPr>
              <a:t> </a:t>
            </a:r>
            <a:r>
              <a:rPr lang="en-US" altLang="en-US"/>
              <a:t>indicates number of segments used by a program;</a:t>
            </a:r>
            <a:endParaRPr lang="en-US" altLang="en-US"/>
          </a:p>
          <a:p>
            <a:pPr>
              <a:buFont typeface="Monotype Sorts" pitchFamily="-84" charset="2"/>
              <a:buNone/>
              <a:tabLst>
                <a:tab pos="1828800" algn="l"/>
                <a:tab pos="2855595" algn="ctr"/>
              </a:tabLst>
            </a:pPr>
            <a:r>
              <a:rPr lang="en-US" altLang="en-US"/>
              <a:t>	                  segment number </a:t>
            </a:r>
            <a:r>
              <a:rPr lang="en-US" altLang="en-US" b="1" i="1">
                <a:solidFill>
                  <a:srgbClr val="FF0000"/>
                </a:solidFill>
              </a:rPr>
              <a:t>s</a:t>
            </a:r>
            <a:r>
              <a:rPr lang="en-US" altLang="en-US"/>
              <a:t> is legal if </a:t>
            </a:r>
            <a:r>
              <a:rPr lang="en-US" altLang="en-US" b="1" i="1">
                <a:solidFill>
                  <a:srgbClr val="FF0000"/>
                </a:solidFill>
              </a:rPr>
              <a:t>s</a:t>
            </a:r>
            <a:r>
              <a:rPr lang="en-US" altLang="en-US"/>
              <a:t> &lt; </a:t>
            </a:r>
            <a:r>
              <a:rPr lang="en-US" altLang="en-US" b="1">
                <a:solidFill>
                  <a:srgbClr val="FF0000"/>
                </a:solidFill>
              </a:rPr>
              <a:t>STLR</a:t>
            </a:r>
            <a:endParaRPr lang="en-US" altLang="en-US" b="1" dirty="0">
              <a:solidFill>
                <a:srgbClr val="FF0000"/>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Segmentation Hardware:</a:t>
            </a:r>
            <a:endParaRPr lang="en-IN" sz="2800" b="1" dirty="0"/>
          </a:p>
        </p:txBody>
      </p:sp>
      <p:pic>
        <p:nvPicPr>
          <p:cNvPr id="5" name="Picture 4" descr="8"/>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71575" y="1908810"/>
            <a:ext cx="8134985" cy="3528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Virtual Memory Concept: (On demand Paging)</a:t>
            </a:r>
            <a:endParaRPr lang="en-IN" sz="2800" b="1" dirty="0"/>
          </a:p>
        </p:txBody>
      </p:sp>
      <p:sp>
        <p:nvSpPr>
          <p:cNvPr id="3" name="Text Box 4"/>
          <p:cNvSpPr txBox="1">
            <a:spLocks noChangeArrowheads="1"/>
          </p:cNvSpPr>
          <p:nvPr/>
        </p:nvSpPr>
        <p:spPr bwMode="auto">
          <a:xfrm>
            <a:off x="1162780" y="1909108"/>
            <a:ext cx="10224358"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algn="l" rtl="0" fontAlgn="base">
              <a:spcBef>
                <a:spcPct val="0"/>
              </a:spcBef>
              <a:spcAft>
                <a:spcPct val="0"/>
              </a:spcAft>
              <a:defRPr sz="3600" kern="1200">
                <a:solidFill>
                  <a:schemeClr val="tx1"/>
                </a:solidFill>
                <a:latin typeface="Arial" panose="020B0604020202090204" pitchFamily="34" charset="0"/>
                <a:ea typeface="+mn-ea"/>
                <a:cs typeface="+mn-cs"/>
              </a:defRPr>
            </a:lvl1pPr>
            <a:lvl2pPr marL="457200" algn="l" rtl="0" fontAlgn="base">
              <a:spcBef>
                <a:spcPct val="0"/>
              </a:spcBef>
              <a:spcAft>
                <a:spcPct val="0"/>
              </a:spcAft>
              <a:defRPr sz="3600" kern="1200">
                <a:solidFill>
                  <a:schemeClr val="tx1"/>
                </a:solidFill>
                <a:latin typeface="Arial" panose="020B0604020202090204" pitchFamily="34" charset="0"/>
                <a:ea typeface="+mn-ea"/>
                <a:cs typeface="+mn-cs"/>
              </a:defRPr>
            </a:lvl2pPr>
            <a:lvl3pPr marL="914400" algn="l" rtl="0" fontAlgn="base">
              <a:spcBef>
                <a:spcPct val="0"/>
              </a:spcBef>
              <a:spcAft>
                <a:spcPct val="0"/>
              </a:spcAft>
              <a:defRPr sz="3600" kern="1200">
                <a:solidFill>
                  <a:schemeClr val="tx1"/>
                </a:solidFill>
                <a:latin typeface="Arial" panose="020B0604020202090204" pitchFamily="34" charset="0"/>
                <a:ea typeface="+mn-ea"/>
                <a:cs typeface="+mn-cs"/>
              </a:defRPr>
            </a:lvl3pPr>
            <a:lvl4pPr marL="1371600" algn="l" rtl="0" fontAlgn="base">
              <a:spcBef>
                <a:spcPct val="0"/>
              </a:spcBef>
              <a:spcAft>
                <a:spcPct val="0"/>
              </a:spcAft>
              <a:defRPr sz="3600" kern="1200">
                <a:solidFill>
                  <a:schemeClr val="tx1"/>
                </a:solidFill>
                <a:latin typeface="Arial" panose="020B0604020202090204" pitchFamily="34" charset="0"/>
                <a:ea typeface="+mn-ea"/>
                <a:cs typeface="+mn-cs"/>
              </a:defRPr>
            </a:lvl4pPr>
            <a:lvl5pPr marL="1828800" algn="l" rtl="0" fontAlgn="base">
              <a:spcBef>
                <a:spcPct val="0"/>
              </a:spcBef>
              <a:spcAft>
                <a:spcPct val="0"/>
              </a:spcAft>
              <a:defRPr sz="3600" kern="1200">
                <a:solidFill>
                  <a:schemeClr val="tx1"/>
                </a:solidFill>
                <a:latin typeface="Arial" panose="020B0604020202090204" pitchFamily="34" charset="0"/>
                <a:ea typeface="+mn-ea"/>
                <a:cs typeface="+mn-cs"/>
              </a:defRPr>
            </a:lvl5pPr>
            <a:lvl6pPr marL="2286000" algn="l" defTabSz="914400" rtl="0" eaLnBrk="1" latinLnBrk="0" hangingPunct="1">
              <a:defRPr sz="3600" kern="1200">
                <a:solidFill>
                  <a:schemeClr val="tx1"/>
                </a:solidFill>
                <a:latin typeface="Arial" panose="020B0604020202090204" pitchFamily="34" charset="0"/>
                <a:ea typeface="+mn-ea"/>
                <a:cs typeface="+mn-cs"/>
              </a:defRPr>
            </a:lvl6pPr>
            <a:lvl7pPr marL="2743200" algn="l" defTabSz="914400" rtl="0" eaLnBrk="1" latinLnBrk="0" hangingPunct="1">
              <a:defRPr sz="3600" kern="1200">
                <a:solidFill>
                  <a:schemeClr val="tx1"/>
                </a:solidFill>
                <a:latin typeface="Arial" panose="020B0604020202090204" pitchFamily="34" charset="0"/>
                <a:ea typeface="+mn-ea"/>
                <a:cs typeface="+mn-cs"/>
              </a:defRPr>
            </a:lvl7pPr>
            <a:lvl8pPr marL="3200400" algn="l" defTabSz="914400" rtl="0" eaLnBrk="1" latinLnBrk="0" hangingPunct="1">
              <a:defRPr sz="3600" kern="1200">
                <a:solidFill>
                  <a:schemeClr val="tx1"/>
                </a:solidFill>
                <a:latin typeface="Arial" panose="020B0604020202090204" pitchFamily="34" charset="0"/>
                <a:ea typeface="+mn-ea"/>
                <a:cs typeface="+mn-cs"/>
              </a:defRPr>
            </a:lvl8pPr>
            <a:lvl9pPr marL="3657600" algn="l" defTabSz="914400" rtl="0" eaLnBrk="1" latinLnBrk="0" hangingPunct="1">
              <a:defRPr sz="3600" kern="1200">
                <a:solidFill>
                  <a:schemeClr val="tx1"/>
                </a:solidFill>
                <a:latin typeface="Arial" panose="020B0604020202090204" pitchFamily="34" charset="0"/>
                <a:ea typeface="+mn-ea"/>
                <a:cs typeface="+mn-cs"/>
              </a:defRPr>
            </a:lvl9pPr>
          </a:lstStyle>
          <a:p>
            <a:pPr>
              <a:buClr>
                <a:srgbClr val="CC0000"/>
              </a:buClr>
              <a:buFontTx/>
              <a:buChar char="•"/>
            </a:pPr>
            <a:r>
              <a:rPr lang="en-US" altLang="en-US" sz="2400"/>
              <a:t> Processes deal with virtual memory – they have the</a:t>
            </a:r>
            <a:endParaRPr lang="en-US" altLang="en-US" sz="2400"/>
          </a:p>
          <a:p>
            <a:pPr>
              <a:buClr>
                <a:srgbClr val="CC0000"/>
              </a:buClr>
            </a:pPr>
            <a:r>
              <a:rPr lang="en-US" altLang="en-US" sz="2400"/>
              <a:t>  illusion that a very large address space is available to</a:t>
            </a:r>
            <a:endParaRPr lang="en-US" altLang="en-US" sz="2400"/>
          </a:p>
          <a:p>
            <a:pPr>
              <a:buClr>
                <a:srgbClr val="CC0000"/>
              </a:buClr>
            </a:pPr>
            <a:r>
              <a:rPr lang="en-US" altLang="en-US" sz="2400"/>
              <a:t>  them</a:t>
            </a:r>
            <a:endParaRPr lang="en-US" altLang="en-US" sz="2400"/>
          </a:p>
          <a:p>
            <a:pPr>
              <a:buClr>
                <a:srgbClr val="CC0000"/>
              </a:buClr>
            </a:pPr>
            <a:endParaRPr lang="en-US" altLang="en-US" sz="2400"/>
          </a:p>
          <a:p>
            <a:pPr>
              <a:buClr>
                <a:srgbClr val="CC0000"/>
              </a:buClr>
              <a:buFontTx/>
              <a:buChar char="•"/>
            </a:pPr>
            <a:r>
              <a:rPr lang="en-US" altLang="en-US" sz="2400"/>
              <a:t> There is only a limited amount of physical memory that is</a:t>
            </a:r>
            <a:endParaRPr lang="en-US" altLang="en-US" sz="2400"/>
          </a:p>
          <a:p>
            <a:pPr>
              <a:buClr>
                <a:srgbClr val="CC0000"/>
              </a:buClr>
            </a:pPr>
            <a:r>
              <a:rPr lang="en-US" altLang="en-US" sz="2400"/>
              <a:t>  shared by all processes – a process places part of its</a:t>
            </a:r>
            <a:endParaRPr lang="en-US" altLang="en-US" sz="2400"/>
          </a:p>
          <a:p>
            <a:pPr>
              <a:buClr>
                <a:srgbClr val="CC0000"/>
              </a:buClr>
            </a:pPr>
            <a:r>
              <a:rPr lang="en-US" altLang="en-US" sz="2400"/>
              <a:t>  virtual memory in this physical memory and the rest is</a:t>
            </a:r>
            <a:endParaRPr lang="en-US" altLang="en-US" sz="2400"/>
          </a:p>
          <a:p>
            <a:pPr>
              <a:buClr>
                <a:srgbClr val="CC0000"/>
              </a:buClr>
            </a:pPr>
            <a:r>
              <a:rPr lang="en-US" altLang="en-US" sz="2400"/>
              <a:t>  stored on disk (called swap space)</a:t>
            </a:r>
            <a:endParaRPr lang="en-US" altLang="en-US" sz="2400"/>
          </a:p>
          <a:p>
            <a:pPr>
              <a:buClr>
                <a:srgbClr val="CC0000"/>
              </a:buClr>
            </a:pPr>
            <a:endParaRPr lang="en-US" altLang="en-US" sz="2400"/>
          </a:p>
          <a:p>
            <a:pPr>
              <a:buClr>
                <a:srgbClr val="CC0000"/>
              </a:buClr>
              <a:buFontTx/>
              <a:buChar char="•"/>
            </a:pPr>
            <a:r>
              <a:rPr lang="en-US" altLang="en-US" sz="2400"/>
              <a:t> Thanks to locality, disk access is likely to be uncommon</a:t>
            </a:r>
            <a:endParaRPr lang="en-US" altLang="en-US" sz="2400"/>
          </a:p>
          <a:p>
            <a:pPr>
              <a:buClr>
                <a:srgbClr val="CC0000"/>
              </a:buClr>
              <a:buFontTx/>
              <a:buChar char="•"/>
            </a:pPr>
            <a:endParaRPr lang="en-US" altLang="en-US" sz="2400"/>
          </a:p>
          <a:p>
            <a:pPr>
              <a:buClr>
                <a:srgbClr val="CC0000"/>
              </a:buClr>
              <a:buFontTx/>
              <a:buChar char="•"/>
            </a:pPr>
            <a:r>
              <a:rPr lang="en-US" altLang="en-US" sz="2400"/>
              <a:t> The hardware ensures that one process cannot access</a:t>
            </a:r>
            <a:endParaRPr lang="en-US" altLang="en-US" sz="2400"/>
          </a:p>
          <a:p>
            <a:pPr>
              <a:buClr>
                <a:srgbClr val="CC0000"/>
              </a:buClr>
            </a:pPr>
            <a:r>
              <a:rPr lang="en-US" altLang="en-US" sz="2400"/>
              <a:t>  the memory of a different process</a:t>
            </a:r>
            <a:endParaRPr lang="en-US" altLang="en-US"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Virtual Memory Concept:</a:t>
            </a:r>
            <a:endParaRPr lang="en-IN" sz="2800" b="1" dirty="0"/>
          </a:p>
        </p:txBody>
      </p:sp>
      <p:pic>
        <p:nvPicPr>
          <p:cNvPr id="5" name="Picture 5"/>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7314" y="2069656"/>
            <a:ext cx="10058400" cy="426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18" y="0"/>
            <a:ext cx="12191695" cy="1051560"/>
          </a:xfrm>
          <a:prstGeom prst="rect">
            <a:avLst/>
          </a:prstGeom>
          <a:solidFill>
            <a:srgbClr val="13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3238" y="164592"/>
            <a:ext cx="4189095" cy="506730"/>
          </a:xfrm>
          <a:prstGeom prst="rect">
            <a:avLst/>
          </a:prstGeom>
          <a:noFill/>
        </p:spPr>
        <p:txBody>
          <a:bodyPr wrap="none">
            <a:spAutoFit/>
          </a:bodyPr>
          <a:lstStyle/>
          <a:p>
            <a:pPr>
              <a:defRPr sz="2700" b="1">
                <a:solidFill>
                  <a:srgbClr val="FFFFFF"/>
                </a:solidFill>
                <a:latin typeface="Aptos Display"/>
              </a:defRPr>
            </a:pPr>
            <a:r>
              <a:t>TERMS AND MEANINGS</a:t>
            </a:r>
          </a:p>
        </p:txBody>
      </p:sp>
      <p:sp>
        <p:nvSpPr>
          <p:cNvPr id="4" name="TextBox 3"/>
          <p:cNvSpPr txBox="1"/>
          <p:nvPr/>
        </p:nvSpPr>
        <p:spPr>
          <a:xfrm>
            <a:off x="567246" y="1207008"/>
            <a:ext cx="6510020" cy="337185"/>
          </a:xfrm>
          <a:prstGeom prst="rect">
            <a:avLst/>
          </a:prstGeom>
          <a:noFill/>
        </p:spPr>
        <p:txBody>
          <a:bodyPr wrap="none">
            <a:spAutoFit/>
          </a:bodyPr>
          <a:lstStyle/>
          <a:p>
            <a:pPr>
              <a:defRPr sz="1600">
                <a:solidFill>
                  <a:srgbClr val="5B697C"/>
                </a:solidFill>
                <a:latin typeface="Aptos"/>
              </a:defRPr>
            </a:pPr>
            <a:r>
              <a:t>Effective Access Time (EAT) with a Translation Lookaside Buffer (TLB)</a:t>
            </a:r>
          </a:p>
        </p:txBody>
      </p:sp>
      <p:sp>
        <p:nvSpPr>
          <p:cNvPr id="5" name="Rounded Rectangle 4"/>
          <p:cNvSpPr/>
          <p:nvPr/>
        </p:nvSpPr>
        <p:spPr>
          <a:xfrm>
            <a:off x="548958" y="1691640"/>
            <a:ext cx="11064240" cy="914400"/>
          </a:xfrm>
          <a:prstGeom prst="roundRect">
            <a:avLst/>
          </a:prstGeom>
          <a:solidFill>
            <a:srgbClr val="F1F6FD"/>
          </a:solidFill>
          <a:ln>
            <a:solidFill>
              <a:srgbClr val="D4E0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500" b="1">
                <a:solidFill>
                  <a:srgbClr val="13264A"/>
                </a:solidFill>
                <a:latin typeface="Aptos Display"/>
              </a:defRPr>
            </a:pPr>
            <a:r>
              <a:t>EAT = h(t + m) + (1 − h)[t + (L + 1)m]</a:t>
            </a:r>
          </a:p>
        </p:txBody>
      </p:sp>
      <p:sp>
        <p:nvSpPr>
          <p:cNvPr id="6" name="Rounded Rectangle 5"/>
          <p:cNvSpPr/>
          <p:nvPr/>
        </p:nvSpPr>
        <p:spPr>
          <a:xfrm>
            <a:off x="548958" y="2880360"/>
            <a:ext cx="347472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164592" tIns="91440" rIns="164592" rtlCol="0" anchor="ctr"/>
          <a:lstStyle/>
          <a:p>
            <a:pPr algn="ctr">
              <a:spcAft>
                <a:spcPts val="600"/>
              </a:spcAft>
              <a:defRPr sz="1500" b="1">
                <a:solidFill>
                  <a:srgbClr val="118580"/>
                </a:solidFill>
                <a:latin typeface="Aptos"/>
              </a:defRPr>
            </a:pPr>
            <a:r>
              <a:t>EAT — Effective Access Time</a:t>
            </a:r>
          </a:p>
          <a:p>
            <a:pPr>
              <a:defRPr sz="1200">
                <a:solidFill>
                  <a:srgbClr val="26303E"/>
                </a:solidFill>
                <a:latin typeface="Aptos"/>
              </a:defRPr>
            </a:pPr>
            <a:r>
              <a:t>Average time needed to access memory.</a:t>
            </a:r>
          </a:p>
        </p:txBody>
      </p:sp>
      <p:sp>
        <p:nvSpPr>
          <p:cNvPr id="7" name="Rounded Rectangle 6"/>
          <p:cNvSpPr/>
          <p:nvPr/>
        </p:nvSpPr>
        <p:spPr>
          <a:xfrm>
            <a:off x="4343718" y="2880360"/>
            <a:ext cx="347472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164592" tIns="91440" rIns="164592" rtlCol="0" anchor="ctr"/>
          <a:lstStyle/>
          <a:p>
            <a:pPr algn="ctr">
              <a:spcAft>
                <a:spcPts val="600"/>
              </a:spcAft>
              <a:defRPr sz="1500" b="1">
                <a:solidFill>
                  <a:srgbClr val="2D60AA"/>
                </a:solidFill>
                <a:latin typeface="Aptos"/>
              </a:defRPr>
            </a:pPr>
            <a:r>
              <a:t>h — TLB Hit Ratio</a:t>
            </a:r>
          </a:p>
          <a:p>
            <a:pPr>
              <a:defRPr sz="1200">
                <a:solidFill>
                  <a:srgbClr val="26303E"/>
                </a:solidFill>
                <a:latin typeface="Aptos"/>
              </a:defRPr>
            </a:pPr>
            <a:r>
              <a:t>Fraction / percentage of lookups found in the TLB.</a:t>
            </a:r>
          </a:p>
        </p:txBody>
      </p:sp>
      <p:sp>
        <p:nvSpPr>
          <p:cNvPr id="8" name="Rounded Rectangle 7"/>
          <p:cNvSpPr/>
          <p:nvPr/>
        </p:nvSpPr>
        <p:spPr>
          <a:xfrm>
            <a:off x="8138478" y="2880360"/>
            <a:ext cx="347472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164592" tIns="91440" rIns="164592" rtlCol="0" anchor="ctr"/>
          <a:lstStyle/>
          <a:p>
            <a:pPr algn="ctr">
              <a:spcAft>
                <a:spcPts val="600"/>
              </a:spcAft>
              <a:defRPr sz="1500" b="1">
                <a:solidFill>
                  <a:srgbClr val="E59137"/>
                </a:solidFill>
                <a:latin typeface="Aptos"/>
              </a:defRPr>
            </a:pPr>
            <a:r>
              <a:t>t — TLB Lookup Time</a:t>
            </a:r>
          </a:p>
          <a:p>
            <a:pPr>
              <a:defRPr sz="1200">
                <a:solidFill>
                  <a:srgbClr val="26303E"/>
                </a:solidFill>
                <a:latin typeface="Aptos"/>
              </a:defRPr>
            </a:pPr>
            <a:r>
              <a:t>Time taken to search the TLB.</a:t>
            </a:r>
          </a:p>
        </p:txBody>
      </p:sp>
      <p:sp>
        <p:nvSpPr>
          <p:cNvPr id="9" name="Rounded Rectangle 8"/>
          <p:cNvSpPr/>
          <p:nvPr/>
        </p:nvSpPr>
        <p:spPr>
          <a:xfrm>
            <a:off x="548958" y="4343400"/>
            <a:ext cx="347472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164592" tIns="91440" rIns="164592" rtlCol="0" anchor="ctr"/>
          <a:lstStyle/>
          <a:p>
            <a:pPr algn="ctr">
              <a:spcAft>
                <a:spcPts val="600"/>
              </a:spcAft>
              <a:defRPr sz="1500" b="1">
                <a:solidFill>
                  <a:srgbClr val="118580"/>
                </a:solidFill>
                <a:latin typeface="Aptos"/>
              </a:defRPr>
            </a:pPr>
            <a:r>
              <a:t>m — Memory Access Time</a:t>
            </a:r>
          </a:p>
          <a:p>
            <a:pPr>
              <a:defRPr sz="1200">
                <a:solidFill>
                  <a:srgbClr val="26303E"/>
                </a:solidFill>
                <a:latin typeface="Aptos"/>
              </a:defRPr>
            </a:pPr>
            <a:r>
              <a:t>Time for one access to main memory.</a:t>
            </a:r>
          </a:p>
        </p:txBody>
      </p:sp>
      <p:sp>
        <p:nvSpPr>
          <p:cNvPr id="10" name="Rounded Rectangle 9"/>
          <p:cNvSpPr/>
          <p:nvPr/>
        </p:nvSpPr>
        <p:spPr>
          <a:xfrm>
            <a:off x="4343718" y="4343400"/>
            <a:ext cx="347472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164592" tIns="91440" rIns="164592" rtlCol="0" anchor="ctr"/>
          <a:lstStyle/>
          <a:p>
            <a:pPr algn="ctr">
              <a:spcAft>
                <a:spcPts val="600"/>
              </a:spcAft>
              <a:defRPr sz="1500" b="1">
                <a:solidFill>
                  <a:srgbClr val="2D60AA"/>
                </a:solidFill>
                <a:latin typeface="Aptos"/>
              </a:defRPr>
            </a:pPr>
            <a:r>
              <a:t>L — Page-Table Levels</a:t>
            </a:r>
          </a:p>
          <a:p>
            <a:pPr>
              <a:defRPr sz="1200">
                <a:solidFill>
                  <a:srgbClr val="26303E"/>
                </a:solidFill>
                <a:latin typeface="Aptos"/>
              </a:defRPr>
            </a:pPr>
            <a:r>
              <a:t>Number of levels in the page table.</a:t>
            </a:r>
          </a:p>
        </p:txBody>
      </p:sp>
      <p:sp>
        <p:nvSpPr>
          <p:cNvPr id="11" name="Rounded Rectangle 10"/>
          <p:cNvSpPr/>
          <p:nvPr/>
        </p:nvSpPr>
        <p:spPr>
          <a:xfrm>
            <a:off x="8138478" y="4343400"/>
            <a:ext cx="3474720" cy="12344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164592" tIns="91440" rIns="164592" rtlCol="0" anchor="ctr"/>
          <a:lstStyle/>
          <a:p>
            <a:pPr algn="ctr">
              <a:spcAft>
                <a:spcPts val="600"/>
              </a:spcAft>
              <a:defRPr sz="1500" b="1">
                <a:solidFill>
                  <a:srgbClr val="E59137"/>
                </a:solidFill>
                <a:latin typeface="Aptos"/>
              </a:defRPr>
            </a:pPr>
            <a:r>
              <a:t>TLB — Translation Lookaside Buffer</a:t>
            </a:r>
          </a:p>
          <a:p>
            <a:pPr>
              <a:defRPr sz="1200">
                <a:solidFill>
                  <a:srgbClr val="26303E"/>
                </a:solidFill>
                <a:latin typeface="Aptos"/>
              </a:defRPr>
            </a:pPr>
            <a:r>
              <a:t>A small, fast cache of recent address translations.</a:t>
            </a:r>
          </a:p>
        </p:txBody>
      </p:sp>
      <p:sp>
        <p:nvSpPr>
          <p:cNvPr id="12" name="TextBox 11"/>
          <p:cNvSpPr txBox="1"/>
          <p:nvPr/>
        </p:nvSpPr>
        <p:spPr>
          <a:xfrm>
            <a:off x="594678" y="5925312"/>
            <a:ext cx="7392035" cy="306705"/>
          </a:xfrm>
          <a:prstGeom prst="rect">
            <a:avLst/>
          </a:prstGeom>
          <a:noFill/>
        </p:spPr>
        <p:txBody>
          <a:bodyPr wrap="none">
            <a:spAutoFit/>
          </a:bodyPr>
          <a:lstStyle/>
          <a:p>
            <a:pPr>
              <a:defRPr sz="1400" b="1">
                <a:solidFill>
                  <a:srgbClr val="13264A"/>
                </a:solidFill>
                <a:latin typeface="Aptos"/>
              </a:defRPr>
            </a:pPr>
            <a:r>
              <a:t>Quick memory tip: hit = translation found in TLB; miss = page table must be checked.</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Rectangle 1"/>
          <p:cNvSpPr/>
          <p:nvPr/>
        </p:nvSpPr>
        <p:spPr>
          <a:xfrm>
            <a:off x="318" y="0"/>
            <a:ext cx="12191695" cy="1051560"/>
          </a:xfrm>
          <a:prstGeom prst="rect">
            <a:avLst/>
          </a:prstGeom>
          <a:solidFill>
            <a:srgbClr val="1326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3238" y="164592"/>
            <a:ext cx="5541010" cy="506730"/>
          </a:xfrm>
          <a:prstGeom prst="rect">
            <a:avLst/>
          </a:prstGeom>
          <a:noFill/>
        </p:spPr>
        <p:txBody>
          <a:bodyPr wrap="none">
            <a:spAutoFit/>
          </a:bodyPr>
          <a:lstStyle/>
          <a:p>
            <a:pPr>
              <a:defRPr sz="2700" b="1">
                <a:solidFill>
                  <a:srgbClr val="FFFFFF"/>
                </a:solidFill>
                <a:latin typeface="Aptos Display"/>
              </a:defRPr>
            </a:pPr>
            <a:r>
              <a:t> EFFECTIVE ACCESS TIME (EAT)</a:t>
            </a:r>
          </a:p>
        </p:txBody>
      </p:sp>
      <p:sp>
        <p:nvSpPr>
          <p:cNvPr id="4" name="TextBox 3"/>
          <p:cNvSpPr txBox="1"/>
          <p:nvPr/>
        </p:nvSpPr>
        <p:spPr>
          <a:xfrm>
            <a:off x="567246" y="1207008"/>
            <a:ext cx="7410450" cy="337185"/>
          </a:xfrm>
          <a:prstGeom prst="rect">
            <a:avLst/>
          </a:prstGeom>
          <a:noFill/>
        </p:spPr>
        <p:txBody>
          <a:bodyPr wrap="none">
            <a:spAutoFit/>
          </a:bodyPr>
          <a:lstStyle/>
          <a:p>
            <a:pPr>
              <a:defRPr sz="1600">
                <a:solidFill>
                  <a:srgbClr val="5B697C"/>
                </a:solidFill>
                <a:latin typeface="Aptos"/>
              </a:defRPr>
            </a:pPr>
            <a:r>
              <a:t>How fast is memory access when a Translation Lookaside Buffer (TLB) is used?</a:t>
            </a:r>
          </a:p>
        </p:txBody>
      </p:sp>
      <p:sp>
        <p:nvSpPr>
          <p:cNvPr id="5" name="Rounded Rectangle 4"/>
          <p:cNvSpPr/>
          <p:nvPr/>
        </p:nvSpPr>
        <p:spPr>
          <a:xfrm>
            <a:off x="503238" y="1719072"/>
            <a:ext cx="11155680" cy="1234440"/>
          </a:xfrm>
          <a:prstGeom prst="roundRect">
            <a:avLst/>
          </a:prstGeom>
          <a:solidFill>
            <a:srgbClr val="F0F5FC"/>
          </a:solidFill>
          <a:ln>
            <a:solidFill>
              <a:srgbClr val="D4E0F0"/>
            </a:solidFill>
          </a:ln>
        </p:spPr>
        <p:style>
          <a:lnRef idx="1">
            <a:schemeClr val="accent1"/>
          </a:lnRef>
          <a:fillRef idx="3">
            <a:schemeClr val="accent1"/>
          </a:fillRef>
          <a:effectRef idx="2">
            <a:schemeClr val="accent1"/>
          </a:effectRef>
          <a:fontRef idx="minor">
            <a:schemeClr val="lt1"/>
          </a:fontRef>
        </p:style>
        <p:txBody>
          <a:bodyPr lIns="228600" tIns="128016" rIns="228600" rtlCol="0" anchor="ctr"/>
          <a:lstStyle/>
          <a:p>
            <a:pPr algn="ctr">
              <a:defRPr sz="2600" b="1">
                <a:solidFill>
                  <a:srgbClr val="13264A"/>
                </a:solidFill>
                <a:latin typeface="Aptos Display"/>
              </a:defRPr>
            </a:pPr>
            <a:r>
              <a:t>EAT = h(t + m) + (1 − h)[t + (L + 1)m]</a:t>
            </a:r>
          </a:p>
          <a:p>
            <a:pPr algn="ctr">
              <a:defRPr sz="1500">
                <a:solidFill>
                  <a:srgbClr val="2D60AA"/>
                </a:solidFill>
                <a:latin typeface="Aptos"/>
              </a:defRPr>
            </a:pPr>
            <a:r>
              <a:t>Hit case: t + m     |     Miss case: t + (L + 1)m</a:t>
            </a:r>
          </a:p>
        </p:txBody>
      </p:sp>
      <p:sp>
        <p:nvSpPr>
          <p:cNvPr id="6" name="Rounded Rectangle 5"/>
          <p:cNvSpPr/>
          <p:nvPr/>
        </p:nvSpPr>
        <p:spPr>
          <a:xfrm>
            <a:off x="503238" y="3218688"/>
            <a:ext cx="3794760" cy="26060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228600" tIns="164592" rtlCol="0" anchor="ctr"/>
          <a:lstStyle/>
          <a:p>
            <a:pPr algn="ctr">
              <a:defRPr sz="1600" b="1">
                <a:solidFill>
                  <a:srgbClr val="118580"/>
                </a:solidFill>
              </a:defRPr>
            </a:pPr>
            <a:r>
              <a:t>WHAT THE SYMBOLS MEAN</a:t>
            </a:r>
          </a:p>
          <a:p>
            <a:pPr>
              <a:spcBef>
                <a:spcPts val="800"/>
              </a:spcBef>
              <a:defRPr sz="1500">
                <a:solidFill>
                  <a:srgbClr val="26303E"/>
                </a:solidFill>
                <a:latin typeface="Aptos"/>
              </a:defRPr>
            </a:pPr>
            <a:r>
              <a:t>•  h = TLB hit ratio</a:t>
            </a:r>
          </a:p>
          <a:p>
            <a:pPr>
              <a:spcBef>
                <a:spcPts val="800"/>
              </a:spcBef>
              <a:defRPr sz="1500">
                <a:solidFill>
                  <a:srgbClr val="26303E"/>
                </a:solidFill>
                <a:latin typeface="Aptos"/>
              </a:defRPr>
            </a:pPr>
            <a:r>
              <a:t>•  t = TLB lookup time</a:t>
            </a:r>
          </a:p>
          <a:p>
            <a:pPr>
              <a:spcBef>
                <a:spcPts val="800"/>
              </a:spcBef>
              <a:defRPr sz="1500">
                <a:solidFill>
                  <a:srgbClr val="26303E"/>
                </a:solidFill>
                <a:latin typeface="Aptos"/>
              </a:defRPr>
            </a:pPr>
            <a:r>
              <a:t>•  m = one memory access time</a:t>
            </a:r>
          </a:p>
          <a:p>
            <a:pPr>
              <a:spcBef>
                <a:spcPts val="800"/>
              </a:spcBef>
              <a:defRPr sz="1500">
                <a:solidFill>
                  <a:srgbClr val="26303E"/>
                </a:solidFill>
                <a:latin typeface="Aptos"/>
              </a:defRPr>
            </a:pPr>
            <a:r>
              <a:t>•  L = number of page-table levels</a:t>
            </a:r>
          </a:p>
        </p:txBody>
      </p:sp>
      <p:sp>
        <p:nvSpPr>
          <p:cNvPr id="7" name="Rounded Rectangle 6"/>
          <p:cNvSpPr/>
          <p:nvPr/>
        </p:nvSpPr>
        <p:spPr>
          <a:xfrm>
            <a:off x="4526598" y="3218688"/>
            <a:ext cx="7132320" cy="2606040"/>
          </a:xfrm>
          <a:prstGeom prst="roundRect">
            <a:avLst/>
          </a:prstGeom>
          <a:solidFill>
            <a:srgbClr val="FFFFFF"/>
          </a:solidFill>
          <a:ln>
            <a:solidFill>
              <a:srgbClr val="DCE4EE"/>
            </a:solidFill>
          </a:ln>
        </p:spPr>
        <p:style>
          <a:lnRef idx="1">
            <a:schemeClr val="accent1"/>
          </a:lnRef>
          <a:fillRef idx="3">
            <a:schemeClr val="accent1"/>
          </a:fillRef>
          <a:effectRef idx="2">
            <a:schemeClr val="accent1"/>
          </a:effectRef>
          <a:fontRef idx="minor">
            <a:schemeClr val="lt1"/>
          </a:fontRef>
        </p:style>
        <p:txBody>
          <a:bodyPr lIns="256032" tIns="146304" rIns="201168" rtlCol="0" anchor="ctr"/>
          <a:lstStyle/>
          <a:p>
            <a:pPr algn="ctr">
              <a:defRPr sz="1600" b="1">
                <a:solidFill>
                  <a:srgbClr val="E59137"/>
                </a:solidFill>
              </a:defRPr>
            </a:pPr>
            <a:r>
              <a:t>CASE EXAMPLE</a:t>
            </a:r>
          </a:p>
          <a:p>
            <a:pPr>
              <a:spcBef>
                <a:spcPts val="500"/>
              </a:spcBef>
              <a:defRPr sz="1400">
                <a:solidFill>
                  <a:srgbClr val="26303E"/>
                </a:solidFill>
                <a:latin typeface="Aptos"/>
              </a:defRPr>
            </a:pPr>
            <a:r>
              <a:t>Given: t = 20 ns, m = 100 ns, h = 80% = 0.8, L = 1</a:t>
            </a:r>
          </a:p>
          <a:p>
            <a:pPr>
              <a:spcBef>
                <a:spcPts val="500"/>
              </a:spcBef>
              <a:defRPr sz="1400">
                <a:solidFill>
                  <a:srgbClr val="26303E"/>
                </a:solidFill>
                <a:latin typeface="Aptos"/>
              </a:defRPr>
            </a:pPr>
            <a:r>
              <a:t>TLB hit time = t + m = 20 + 100 = 120 ns</a:t>
            </a:r>
          </a:p>
          <a:p>
            <a:pPr>
              <a:spcBef>
                <a:spcPts val="500"/>
              </a:spcBef>
              <a:defRPr sz="1400">
                <a:solidFill>
                  <a:srgbClr val="26303E"/>
                </a:solidFill>
                <a:latin typeface="Aptos"/>
              </a:defRPr>
            </a:pPr>
            <a:r>
              <a:t>TLB miss time = t + (L + 1)m = 20 + (1 + 1)100 = 220 ns</a:t>
            </a:r>
          </a:p>
          <a:p>
            <a:pPr>
              <a:spcBef>
                <a:spcPts val="500"/>
              </a:spcBef>
              <a:defRPr sz="1400">
                <a:solidFill>
                  <a:srgbClr val="26303E"/>
                </a:solidFill>
                <a:latin typeface="Aptos"/>
              </a:defRPr>
            </a:pPr>
            <a:r>
              <a:t>EAT = 0.8(120) + 0.2(220) = 96 + 44</a:t>
            </a:r>
          </a:p>
        </p:txBody>
      </p:sp>
      <p:sp>
        <p:nvSpPr>
          <p:cNvPr id="8" name="Rounded Rectangle 7"/>
          <p:cNvSpPr/>
          <p:nvPr/>
        </p:nvSpPr>
        <p:spPr>
          <a:xfrm>
            <a:off x="7818438" y="5239512"/>
            <a:ext cx="3337560" cy="438912"/>
          </a:xfrm>
          <a:prstGeom prst="roundRect">
            <a:avLst/>
          </a:prstGeom>
          <a:solidFill>
            <a:srgbClr val="118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000" b="1">
                <a:solidFill>
                  <a:srgbClr val="FFFFFF"/>
                </a:solidFill>
                <a:latin typeface="Aptos Display"/>
              </a:defRPr>
            </a:pPr>
            <a:r>
              <a:t>EAT = 140 ns</a:t>
            </a:r>
          </a:p>
        </p:txBody>
      </p:sp>
      <p:sp>
        <p:nvSpPr>
          <p:cNvPr id="9" name="TextBox 8"/>
          <p:cNvSpPr txBox="1"/>
          <p:nvPr/>
        </p:nvSpPr>
        <p:spPr>
          <a:xfrm>
            <a:off x="567246" y="6172200"/>
            <a:ext cx="6052820" cy="275590"/>
          </a:xfrm>
          <a:prstGeom prst="rect">
            <a:avLst/>
          </a:prstGeom>
          <a:noFill/>
        </p:spPr>
        <p:txBody>
          <a:bodyPr wrap="none">
            <a:spAutoFit/>
          </a:bodyPr>
          <a:lstStyle/>
          <a:p>
            <a:pPr>
              <a:defRPr sz="1200" i="1">
                <a:solidFill>
                  <a:srgbClr val="5B697C"/>
                </a:solidFill>
                <a:latin typeface="Aptos"/>
              </a:defRPr>
            </a:pPr>
            <a:r>
              <a:t>Remember: a TLB hit avoids extra page-table memory accesses; a miss requires them.</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Virtual Memory Concept:</a:t>
            </a:r>
            <a:endParaRPr lang="en-IN" sz="2800" b="1" dirty="0"/>
          </a:p>
        </p:txBody>
      </p:sp>
      <p:sp>
        <p:nvSpPr>
          <p:cNvPr id="3" name="TextBox 2"/>
          <p:cNvSpPr txBox="1"/>
          <p:nvPr/>
        </p:nvSpPr>
        <p:spPr>
          <a:xfrm>
            <a:off x="1200150" y="1914525"/>
            <a:ext cx="10058400" cy="1200329"/>
          </a:xfrm>
          <a:prstGeom prst="rect">
            <a:avLst/>
          </a:prstGeom>
          <a:noFill/>
        </p:spPr>
        <p:txBody>
          <a:bodyPr wrap="square" rtlCol="0">
            <a:spAutoFit/>
          </a:bodyPr>
          <a:lstStyle/>
          <a:p>
            <a:r>
              <a:rPr lang="en-IN" dirty="0"/>
              <a:t>Effective Memory Access Time = Hit Ratio of TLB * { Access Time of TLB + Access Time of Memory} +  Miss Ratio of TLB * { Access Time of TLB + (L+1) * Access Time of Memory} </a:t>
            </a:r>
            <a:endParaRPr lang="en-IN" dirty="0"/>
          </a:p>
          <a:p>
            <a:endParaRPr lang="en-IN" dirty="0"/>
          </a:p>
          <a:p>
            <a:r>
              <a:rPr lang="en-IN" dirty="0"/>
              <a:t>Where L stands for Number of levels of page table </a:t>
            </a:r>
            <a:endParaRPr lang="en-IN"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Numerical on EAT</a:t>
            </a:r>
            <a:endParaRPr lang="en-IN" sz="2800" b="1" dirty="0"/>
          </a:p>
        </p:txBody>
      </p:sp>
      <p:sp>
        <p:nvSpPr>
          <p:cNvPr id="3" name="TextBox 2"/>
          <p:cNvSpPr txBox="1"/>
          <p:nvPr/>
        </p:nvSpPr>
        <p:spPr>
          <a:xfrm>
            <a:off x="1200150" y="1914525"/>
            <a:ext cx="10058400" cy="2585323"/>
          </a:xfrm>
          <a:prstGeom prst="rect">
            <a:avLst/>
          </a:prstGeom>
          <a:noFill/>
        </p:spPr>
        <p:txBody>
          <a:bodyPr wrap="square" rtlCol="0">
            <a:spAutoFit/>
          </a:bodyPr>
          <a:lstStyle/>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Consider a single level paging scheme with a TLB. Assume no page fault occurs. It takes 20 ns to search the TLB and 100 ns to access the physical memory. If TLB hit ratio is 80%, the effective memory access time is _______ ns.</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 </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endParaRPr lang="en-US" sz="2400" dirty="0">
              <a:solidFill>
                <a:srgbClr val="303030"/>
              </a:solidFill>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Numerical on EAT</a:t>
            </a:r>
            <a:endParaRPr lang="en-IN" sz="2800" b="1" dirty="0"/>
          </a:p>
        </p:txBody>
      </p:sp>
      <p:sp>
        <p:nvSpPr>
          <p:cNvPr id="3" name="TextBox 2"/>
          <p:cNvSpPr txBox="1"/>
          <p:nvPr/>
        </p:nvSpPr>
        <p:spPr>
          <a:xfrm>
            <a:off x="1200150" y="1914525"/>
            <a:ext cx="10058400" cy="4247317"/>
          </a:xfrm>
          <a:prstGeom prst="rect">
            <a:avLst/>
          </a:prstGeom>
          <a:noFill/>
        </p:spPr>
        <p:txBody>
          <a:bodyPr wrap="square" rtlCol="0">
            <a:spAutoFit/>
          </a:bodyPr>
          <a:lstStyle/>
          <a:p>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Solution:</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endParaRPr lang="en-US" sz="2400" dirty="0">
              <a:solidFill>
                <a:srgbClr val="303030"/>
              </a:solidFill>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Effective Access Time</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 0.8 x { 20 ns + 100 ns } + 0.2 x { 20 ns + (1+1) x 100 ns }</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 0.8 x 120 ns + 0.2 + 220 ns</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 96 ns + 44 ns</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 140 ns</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Thus, effective memory access time = 140 ns.</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l" fontAlgn="base"/>
            <a:r>
              <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rPr>
              <a:t> </a:t>
            </a:r>
            <a:endParaRPr lang="en-US" sz="2400"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endParaRPr lang="en-US"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303030"/>
              </a:solidFill>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1069848" y="1214438"/>
            <a:ext cx="9244012" cy="523220"/>
          </a:xfrm>
          <a:prstGeom prst="rect">
            <a:avLst/>
          </a:prstGeom>
          <a:noFill/>
        </p:spPr>
        <p:txBody>
          <a:bodyPr wrap="square" rtlCol="0">
            <a:spAutoFit/>
          </a:bodyPr>
          <a:lstStyle/>
          <a:p>
            <a:r>
              <a:rPr lang="en-IN" sz="2800" b="1" dirty="0"/>
              <a:t>PAGE REPLACEMENT ALGORITHMS</a:t>
            </a:r>
            <a:endParaRPr lang="en-IN" sz="2800" b="1" dirty="0"/>
          </a:p>
        </p:txBody>
      </p:sp>
      <p:sp>
        <p:nvSpPr>
          <p:cNvPr id="3" name="TextBox 2"/>
          <p:cNvSpPr txBox="1"/>
          <p:nvPr/>
        </p:nvSpPr>
        <p:spPr>
          <a:xfrm>
            <a:off x="1219200" y="1840022"/>
            <a:ext cx="10058400" cy="3231654"/>
          </a:xfrm>
          <a:prstGeom prst="rect">
            <a:avLst/>
          </a:prstGeom>
          <a:noFill/>
        </p:spPr>
        <p:txBody>
          <a:bodyPr wrap="square" rtlCol="0">
            <a:spAutoFit/>
          </a:bodyPr>
          <a:lstStyle/>
          <a:p>
            <a:endParaRPr lang="en-US" b="0" i="0" dirty="0">
              <a:solidFill>
                <a:srgbClr val="303030"/>
              </a:solidFill>
              <a:effectLst/>
              <a:latin typeface="Calibri" panose="020F0502020204030204" pitchFamily="34" charset="0"/>
              <a:ea typeface="Calibri" panose="020F0502020204030204" pitchFamily="34" charset="0"/>
              <a:cs typeface="Calibri" panose="020F0502020204030204" pitchFamily="34" charset="0"/>
            </a:endParaRPr>
          </a:p>
          <a:p>
            <a:pPr algn="just"/>
            <a:r>
              <a:rPr lang="en-US" sz="2400" b="1"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Page Fault:</a:t>
            </a:r>
            <a:r>
              <a:rPr lang="en-US" sz="2400" b="0" i="0" dirty="0">
                <a:solidFill>
                  <a:srgbClr val="273239"/>
                </a:solidFill>
                <a:effectLst/>
                <a:latin typeface="Calibri" panose="020F0502020204030204" pitchFamily="34" charset="0"/>
                <a:ea typeface="Calibri" panose="020F0502020204030204" pitchFamily="34" charset="0"/>
                <a:cs typeface="Calibri" panose="020F0502020204030204" pitchFamily="34" charset="0"/>
              </a:rPr>
              <a:t> A page fault happens when a running program accesses a memory page that is mapped into the virtual address space but not loaded in physical memory. Since actual physical memory is much smaller than virtual memory, page faults happen. In case of a page fault, Operating System might have to replace one of the existing pages with the newly needed page. Different page replacement algorithms suggest different ways to decide which page to replace. The target for all algorithms is to reduce the number of page faults.</a:t>
            </a:r>
            <a:endParaRPr lang="en-US" sz="2400" dirty="0">
              <a:solidFill>
                <a:srgbClr val="303030"/>
              </a:solidFill>
              <a:latin typeface="Calibri" panose="020F0502020204030204" pitchFamily="34" charset="0"/>
              <a:ea typeface="Calibri" panose="020F0502020204030204" pitchFamily="34" charset="0"/>
              <a:cs typeface="Calibri" panose="020F0502020204030204" pitchFamily="34" charset="0"/>
            </a:endParaRPr>
          </a:p>
          <a:p>
            <a:endParaRPr lang="en-IN"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9848" y="484632"/>
            <a:ext cx="10058400" cy="558356"/>
          </a:xfrm>
        </p:spPr>
        <p:txBody>
          <a:bodyPr>
            <a:normAutofit fontScale="90000"/>
          </a:bodyPr>
          <a:lstStyle/>
          <a:p>
            <a:r>
              <a:rPr lang="en-IN" dirty="0"/>
              <a:t>MemORY MANAGEMENT</a:t>
            </a:r>
            <a:endParaRPr lang="en-IN" dirty="0"/>
          </a:p>
        </p:txBody>
      </p:sp>
      <p:sp>
        <p:nvSpPr>
          <p:cNvPr id="4" name="AutoShape 2" descr="PAGING&#10;MEMORY MANAGEMENT                                       New Concept!!&#10;&#10;&#10;•   Logical address space of a process can be noncontiguous; process is&#10;    allocated physical memory whenever that memory is available and the&#10;    program needs it.&#10;•   Divide physical memory into fixed-sized blocks called frames (size is&#10;    power of 2, between 512 bytes and 8192 bytes).&#10;•   Divide logical memory into blocks of same size called pages.&#10;•   Keep track of all free frames.&#10;•   To run a program of size n pages, need to find n free frames and load&#10;    program.&#10;•   Set up a page table to translate logical to physical addresses.&#10;•   Internal fragmentation.&#10;&#10;&#10;&#10;                            8: Memory Management                     20&#10; "/>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IN"/>
          </a:p>
        </p:txBody>
      </p:sp>
      <p:sp>
        <p:nvSpPr>
          <p:cNvPr id="6" name="TextBox 5"/>
          <p:cNvSpPr txBox="1"/>
          <p:nvPr/>
        </p:nvSpPr>
        <p:spPr>
          <a:xfrm>
            <a:off x="922891" y="1230767"/>
            <a:ext cx="9244012" cy="523220"/>
          </a:xfrm>
          <a:prstGeom prst="rect">
            <a:avLst/>
          </a:prstGeom>
          <a:noFill/>
        </p:spPr>
        <p:txBody>
          <a:bodyPr wrap="square" rtlCol="0">
            <a:spAutoFit/>
          </a:bodyPr>
          <a:lstStyle/>
          <a:p>
            <a:r>
              <a:rPr lang="en-IN" sz="2800" b="1" dirty="0"/>
              <a:t>Page Replacement Algorithms</a:t>
            </a:r>
            <a:endParaRPr lang="en-IN" sz="2800" b="1" dirty="0"/>
          </a:p>
        </p:txBody>
      </p:sp>
      <p:sp>
        <p:nvSpPr>
          <p:cNvPr id="3" name="TextBox 2"/>
          <p:cNvSpPr txBox="1"/>
          <p:nvPr/>
        </p:nvSpPr>
        <p:spPr>
          <a:xfrm>
            <a:off x="1069848" y="2188029"/>
            <a:ext cx="9244012" cy="1477328"/>
          </a:xfrm>
          <a:prstGeom prst="rect">
            <a:avLst/>
          </a:prstGeom>
          <a:noFill/>
        </p:spPr>
        <p:txBody>
          <a:bodyPr wrap="square" rtlCol="0">
            <a:spAutoFit/>
          </a:bodyPr>
          <a:lstStyle/>
          <a:p>
            <a:pPr marL="285750" indent="-285750">
              <a:buFont typeface="Wingdings" panose="05000000000000000000" pitchFamily="2" charset="2"/>
              <a:buChar char="ü"/>
            </a:pPr>
            <a:r>
              <a:rPr lang="en-IN" dirty="0"/>
              <a:t>FIFO</a:t>
            </a:r>
            <a:endParaRPr lang="en-IN" dirty="0"/>
          </a:p>
          <a:p>
            <a:pPr marL="285750" indent="-285750">
              <a:buFont typeface="Wingdings" panose="05000000000000000000" pitchFamily="2" charset="2"/>
              <a:buChar char="ü"/>
            </a:pPr>
            <a:endParaRPr lang="en-IN" dirty="0"/>
          </a:p>
          <a:p>
            <a:pPr marL="285750" indent="-285750">
              <a:buFont typeface="Wingdings" panose="05000000000000000000" pitchFamily="2" charset="2"/>
              <a:buChar char="ü"/>
            </a:pPr>
            <a:r>
              <a:rPr lang="en-IN" dirty="0"/>
              <a:t>LRU</a:t>
            </a:r>
            <a:endParaRPr lang="en-IN" dirty="0"/>
          </a:p>
          <a:p>
            <a:pPr marL="285750" indent="-285750">
              <a:buFont typeface="Wingdings" panose="05000000000000000000" pitchFamily="2" charset="2"/>
              <a:buChar char="ü"/>
            </a:pPr>
            <a:endParaRPr lang="en-IN" dirty="0"/>
          </a:p>
          <a:p>
            <a:pPr marL="285750" indent="-285750">
              <a:buFont typeface="Wingdings" panose="05000000000000000000" pitchFamily="2" charset="2"/>
              <a:buChar char="ü"/>
            </a:pPr>
            <a:r>
              <a:rPr lang="en-IN" dirty="0"/>
              <a:t>Optimal Page replacement</a:t>
            </a:r>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6.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Wood Type</Template>
  <TotalTime>0</TotalTime>
  <Words>17173</Words>
  <Application>WPS Presentation</Application>
  <PresentationFormat>Widescreen</PresentationFormat>
  <Paragraphs>735</Paragraphs>
  <Slides>48</Slides>
  <Notes>0</Notes>
  <HiddenSlides>0</HiddenSlides>
  <MMClips>0</MMClips>
  <ScaleCrop>false</ScaleCrop>
  <HeadingPairs>
    <vt:vector size="6" baseType="variant">
      <vt:variant>
        <vt:lpstr>已用的字体</vt:lpstr>
      </vt:variant>
      <vt:variant>
        <vt:i4>25</vt:i4>
      </vt:variant>
      <vt:variant>
        <vt:lpstr>主题</vt:lpstr>
      </vt:variant>
      <vt:variant>
        <vt:i4>1</vt:i4>
      </vt:variant>
      <vt:variant>
        <vt:lpstr>幻灯片标题</vt:lpstr>
      </vt:variant>
      <vt:variant>
        <vt:i4>48</vt:i4>
      </vt:variant>
    </vt:vector>
  </HeadingPairs>
  <TitlesOfParts>
    <vt:vector size="74" baseType="lpstr">
      <vt:lpstr>Arial</vt:lpstr>
      <vt:lpstr>SimSun</vt:lpstr>
      <vt:lpstr>Wingdings</vt:lpstr>
      <vt:lpstr>Calibri</vt:lpstr>
      <vt:lpstr>Helvetica Neue</vt:lpstr>
      <vt:lpstr>Nunito</vt:lpstr>
      <vt:lpstr>苹方-简</vt:lpstr>
      <vt:lpstr>Rockwell Condensed</vt:lpstr>
      <vt:lpstr>Rockwell</vt:lpstr>
      <vt:lpstr>Microsoft YaHei</vt:lpstr>
      <vt:lpstr>汉仪旗黑</vt:lpstr>
      <vt:lpstr>Arial Unicode MS</vt:lpstr>
      <vt:lpstr>__Source_Sans_Pro_fea366</vt:lpstr>
      <vt:lpstr>Thonburi</vt:lpstr>
      <vt:lpstr>Rockwell Bold</vt:lpstr>
      <vt:lpstr>Monotype Sorts</vt:lpstr>
      <vt:lpstr>Arial</vt:lpstr>
      <vt:lpstr>Verdana</vt:lpstr>
      <vt:lpstr>MS PGothic</vt:lpstr>
      <vt:lpstr>冬青黑体简体中文</vt:lpstr>
      <vt:lpstr>Helvetica</vt:lpstr>
      <vt:lpstr>HG明朝B</vt:lpstr>
      <vt:lpstr>宋体-简</vt:lpstr>
      <vt:lpstr>Aptos Display</vt:lpstr>
      <vt:lpstr>Aptos</vt:lpstr>
      <vt:lpstr>Wood Type</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MemORY MANAGEMENT</vt:lpstr>
      <vt:lpstr>PowerPoint 演示文稿</vt:lpstr>
      <vt:lpstr>PowerPoint 演示文稿</vt:lpstr>
      <vt:lpstr>PowerPoint 演示文稿</vt:lpstr>
      <vt:lpstr>PowerPoint 演示文稿</vt:lpstr>
      <vt:lpstr>PowerPoint 演示文稿</vt:lpstr>
      <vt:lpstr>MemORY MANAGEMENT</vt:lpstr>
      <vt:lpstr>MemORY MANAGEMENT</vt:lpstr>
      <vt:lpstr>MemORY MANAGEMENT</vt:lpstr>
      <vt:lpstr>PowerPoint 演示文稿</vt:lpstr>
      <vt:lpstr>MemORY MANAGEMENT</vt:lpstr>
      <vt:lpstr>MemORY MANAGEMENT</vt:lpstr>
      <vt:lpstr>MemORY MANAGEMENT</vt:lpstr>
      <vt:lpstr>MemORY MANAGEMENT</vt:lpstr>
      <vt:lpstr>PowerPoint 演示文稿</vt:lpstr>
      <vt:lpstr>MemORY MANAGEMENT</vt:lpstr>
      <vt:lpstr>PowerPoint 演示文稿</vt:lpstr>
      <vt:lpstr>MemORY MANAGEMENT</vt:lpstr>
      <vt:lpstr>PowerPoint 演示文稿</vt:lpstr>
      <vt:lpstr>MemORY MANAGEMENT</vt:lpstr>
      <vt:lpstr>MemORY MANAGEMENT</vt:lpstr>
      <vt:lpstr>MemORY MANAGEMENT</vt:lpstr>
      <vt:lpstr>MemORY MANAGEMENT</vt:lpstr>
      <vt:lpstr>MemORY MANAGEMENT</vt:lpstr>
      <vt:lpstr>MemORY MANAGEMENT</vt:lpstr>
      <vt:lpstr>MemORY MANAGEMENT</vt:lpstr>
      <vt:lpstr>PowerPoint 演示文稿</vt:lpstr>
      <vt:lpstr>PowerPoint 演示文稿</vt:lpstr>
      <vt:lpstr>MemORY MANAGEMENT</vt:lpstr>
      <vt:lpstr>MemORY MANAGEMENT</vt:lpstr>
      <vt:lpstr>MemORY MANAGEMENT</vt:lpstr>
      <vt:lpstr>MemORY MANAGEMENT</vt:lpstr>
      <vt:lpstr>MemORY MANAGEMENT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Management</dc:title>
  <dc:creator>Sandeep Rana</dc:creator>
  <cp:lastModifiedBy>WPS_1792868037</cp:lastModifiedBy>
  <cp:revision>21</cp:revision>
  <dcterms:created xsi:type="dcterms:W3CDTF">2026-10-26T19:00:04Z</dcterms:created>
  <dcterms:modified xsi:type="dcterms:W3CDTF">2026-10-26T19:00:04Z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1033-12.1.29182.29182</vt:lpwstr>
  </property>
  <property fmtid="{D5CDD505-2E9C-101B-9397-08002B2CF9AE}" pid="3" name="ICV">
    <vt:lpwstr>AEC31191AAF420B03855DA6A0BD2D18D_42</vt:lpwstr>
  </property>
</Properties>
</file>